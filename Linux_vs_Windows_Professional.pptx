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Good morning everyone. Today, I want to talk about two of the most popular operating systems in the world: Linux and Windows. Most of us use an operating system every day. It helps us run programs, use the internet, play games, manage files, and communicate with other people. Windows and Linux can do many of the same things, but they are very different in the way they work. So today, I will compare them in five main areas: ease of use, performance, security, software and gaming, and customization.</a:t>
            </a:r>
          </a:p>
          <a:p/>
          <a:p>
            <a:r>
              <a:t>MOTION / DELIVERY</a:t>
            </a:r>
          </a:p>
          <a:p>
            <a:r>
              <a:t>Title reveals first; Linux and Windows marks enter from opposite sides, then the comparison line fades in.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First, let's talk about what they are. Windows is an operating system developed by Microsoft. It is very popular on personal computers and is commonly used in homes, schools, offices, and businesses. Linux is different. Linux is an open-source operating system. There are many different versions of Linux, called distributions, such as Ubuntu, Fedora, and Linux Mint. Windows usually gives users one main experience, while Linux gives users many different choices.</a:t>
            </a:r>
          </a:p>
          <a:p/>
          <a:p>
            <a:r>
              <a:t>MOTION / DELIVERY</a:t>
            </a:r>
          </a:p>
          <a:p>
            <a:r>
              <a:t>Windows card appears first, then Linux card; final philosophy line fades 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Now, let's look at some of the different Linux distributions and Windows versions. Linux has many different distributions. Some important Linux families include Debian-based distributions and Red Hat-based distributions. For example, Debian-based distributions include Debian, Ubuntu, and Linux Mint. Red Hat-based distributions include Red Hat Enterprise Linux, Fedora, Rocky Linux, and AlmaLinux. There are also other Linux families, such as Arch-based distributions, including Arch Linux and Manjaro. So, Linux is not just one version. It has many different distributions, and each one can be designed for different users and purposes. Windows has a different approach. Instead of many distributions, Microsoft has released different versions of Windows over the years. Some important versions are Windows XP, Windows Vista, Windows 7, Windows 8, Windows 8.1, Windows 10, and Windows 11. So, the main difference is that Linux has many distributions, while Windows has different versions of the same operating system.</a:t>
            </a:r>
          </a:p>
          <a:p/>
          <a:p>
            <a:r>
              <a:t>MOTION / DELIVERY</a:t>
            </a:r>
          </a:p>
          <a:p>
            <a:r>
              <a:t>Timeline draws left-to-right; Linux family labels appear first, then the Windows version path.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The first important difference is ease of use. Windows is generally very easy for beginners. Most computers already have Windows installed, and many people are familiar with its interface. For example, we have the Start menu, the taskbar, File Explorer, and simple settings. Linux can also be very easy to use, especially with distributions like Ubuntu or Linux Mint. However, Linux sometimes requires users to learn more about the system. Some tasks may require using the terminal, which can be difficult for a beginner. So, for a person who wants a simple and familiar experience, Windows is usually easier.</a:t>
            </a:r>
          </a:p>
          <a:p/>
          <a:p>
            <a:r>
              <a:t>MOTION / DELIVERY</a:t>
            </a:r>
          </a:p>
          <a:p>
            <a:r>
              <a:t>Four comparison cards fade in in sequence; winner card gets a subtle emphasis.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Now let's talk about performance. Windows has many features and services running in the background. Because of this, it can sometimes use more RAM and system resources. Linux is often lighter, especially when we use a lightweight desktop environment. This can be useful on older or less powerful computers. For example, a computer that struggles with a modern version of Windows may still work well with a lightweight Linux distribution. However, performance depends on the hardware, the Linux distribution, and the programs we use. So Linux can have an advantage on older hardware, but Windows can also perform very well on modern computers.</a:t>
            </a:r>
          </a:p>
          <a:p/>
          <a:p>
            <a:r>
              <a:t>MOTION / DELIVERY</a:t>
            </a:r>
          </a:p>
          <a:p>
            <a:r>
              <a:t>Resource cards enter from alternating sides; the older-hardware point is highlighted last.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Another important area is security. Both Windows and Linux can be secure, but they use different approaches. Windows is a very popular operating system, so it is also a common target for malware and viruses. Microsoft includes security tools such as Windows Defender to protect users. Linux has a different security model. Users normally have limited permissions, and administrative actions usually require special permission. Linux is also open-source, which means its source code can be examined by developers around the world. But this does not mean Linux is completely safe. No operating system is completely secure. Good security also depends on software updates, strong passwords, safe downloads, and user behavior.</a:t>
            </a:r>
          </a:p>
          <a:p/>
          <a:p>
            <a:r>
              <a:t>MOTION / DELIVERY</a:t>
            </a:r>
          </a:p>
          <a:p>
            <a:r>
              <a:t>Shield motif fades in; security points appear one by one, ending on the no-perfect-OS message.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Now let's compare software and gaming. Windows has a major advantage when it comes to software compatibility. Many popular programs are designed specifically for Windows. Windows is also very popular for gaming. Most PC games are released for Windows first, and many games work very well with Windows. Linux has improved a lot in gaming. Tools such as Steam and Proton allow many Windows games to run on Linux. However, some games, especially games with certain anti-cheat systems, may still have problems on Linux. For professional software, Windows also has an advantage because many popular applications are officially designed for it. So if gaming and maximum software compatibility are important, Windows is usually the easier choice.</a:t>
            </a:r>
          </a:p>
          <a:p/>
          <a:p>
            <a:r>
              <a:t>MOTION / DELIVERY</a:t>
            </a:r>
          </a:p>
          <a:p>
            <a:r>
              <a:t>Windows compatibility card enters first; Steam/Proton appears next; anti-cheat limitation fades in as a small warning.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One area where Linux is especially strong is customization. Linux gives users a lot of control over their operating system. Users can change the desktop environment, appearance, system behavior, and many other parts of the system. There are also many different Linux distributions designed for different types of users. Windows also allows customization, but it gives users less control over the core system. So, if you like experimenting and changing your computer to work exactly the way you want, Linux can be a better choice.</a:t>
            </a:r>
          </a:p>
          <a:p/>
          <a:p>
            <a:r>
              <a:t>MOTION / DELIVERY</a:t>
            </a:r>
          </a:p>
          <a:p>
            <a:r>
              <a:t>Customization keywords appear around the Linux mark; Windows remains visually simpler.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Another difference is price. Linux is generally free and open-source. Most Linux distributions can be downloaded and used without paying for a license. Windows is commercial software developed by Microsoft. Many computers include a Windows license when they are purchased, but Windows itself is not completely open-source. For students or people with a limited budget, Linux can therefore be an attractive option.</a:t>
            </a:r>
          </a:p>
          <a:p/>
          <a:p>
            <a:r>
              <a:t>MOTION / DELIVERY</a:t>
            </a:r>
          </a:p>
          <a:p>
            <a:r>
              <a:t>Linux 100% ring completes first; Windows ring follows at a smaller value.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So, which operating system is better? The answer depends on the user. If you want easy installation, maximum software compatibility, and strong gaming support, Windows is probably the better choice. If you want more customization, more control, and a free operating system that can work well on older hardware, Linux may be better. There is no operating system that is perfect for everyone. The best choice depends on what you need to do with your computer.</a:t>
            </a:r>
          </a:p>
          <a:p/>
          <a:p>
            <a:r>
              <a:t>MOTION / DELIVERY</a:t>
            </a:r>
          </a:p>
          <a:p>
            <a:r>
              <a:t>Windows and Linux cards slide toward the center; the 'No universal winner' statement appears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SCRIPT</a:t>
            </a:r>
          </a:p>
          <a:p>
            <a:r>
              <a:t>To conclude, Windows and Linux are both powerful operating systems, but they have different strengths. Windows is easy to use, has excellent software compatibility, and is very strong for gaming. Linux is free, highly customizable, and can be a great choice for users who want more control over their system. Personally, I think the most important thing is not choosing the operating system that is more popular. The important thing is choosing the one that fits your needs. Thank you for listening.</a:t>
            </a:r>
          </a:p>
          <a:p/>
          <a:p>
            <a:r>
              <a:t>MOTION / DELIVERY</a:t>
            </a:r>
          </a:p>
          <a:p>
            <a:r>
              <a:t>Both marks settle side-by-side; the final message fades in, then the deck holds for the closing sentence.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 Id="rId10" Type="http://schemas.openxmlformats.org/officeDocument/2006/relationships/image" Target="../media/image10.jpg"/><Relationship Id="rId11" Type="http://schemas.openxmlformats.org/officeDocument/2006/relationships/image" Target="../media/image11.png"/><Relationship Id="rId12" Type="http://schemas.openxmlformats.org/officeDocument/2006/relationships/image" Target="../media/image12.png"/><Relationship Id="rId13" Type="http://schemas.openxmlformats.org/officeDocument/2006/relationships/image" Target="../media/image13.jpg"/><Relationship Id="rId14" Type="http://schemas.openxmlformats.org/officeDocument/2006/relationships/image" Target="../media/image14.png"/><Relationship Id="rId15" Type="http://schemas.openxmlformats.org/officeDocument/2006/relationships/image" Target="../media/image1.png"/><Relationship Id="rId1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11.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6.png"/><Relationship Id="rId4" Type="http://schemas.openxmlformats.org/officeDocument/2006/relationships/image" Target="../media/image2.jpg"/><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4.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9.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4.png"/><Relationship Id="rId4"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9728" cy="6858000"/>
          </a:xfrm>
          <a:prstGeom prst="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7909560" y="0"/>
            <a:ext cx="4282135" cy="6858000"/>
          </a:xfrm>
          <a:prstGeom prst="rect">
            <a:avLst/>
          </a:prstGeom>
          <a:solidFill>
            <a:srgbClr val="F4F7FA"/>
          </a:solidFill>
          <a:ln>
            <a:solidFill>
              <a:srgbClr val="F4F7F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566928"/>
            <a:ext cx="2743200" cy="274320"/>
          </a:xfrm>
          <a:prstGeom prst="rect">
            <a:avLst/>
          </a:prstGeom>
          <a:noFill/>
        </p:spPr>
        <p:txBody>
          <a:bodyPr wrap="square" anchor="t">
            <a:spAutoFit/>
          </a:bodyPr>
          <a:lstStyle/>
          <a:p>
            <a:pPr algn="l"/>
            <a:r>
              <a:rPr sz="1100" b="1">
                <a:solidFill>
                  <a:srgbClr val="0070F3"/>
                </a:solidFill>
                <a:latin typeface="Aptos"/>
              </a:rPr>
              <a:t>OPERATING SYSTEMS</a:t>
            </a:r>
          </a:p>
        </p:txBody>
      </p:sp>
      <p:sp>
        <p:nvSpPr>
          <p:cNvPr id="6" name="TextBox 5"/>
          <p:cNvSpPr txBox="1"/>
          <p:nvPr/>
        </p:nvSpPr>
        <p:spPr>
          <a:xfrm>
            <a:off x="685800" y="1078992"/>
            <a:ext cx="6583680" cy="731520"/>
          </a:xfrm>
          <a:prstGeom prst="rect">
            <a:avLst/>
          </a:prstGeom>
          <a:noFill/>
        </p:spPr>
        <p:txBody>
          <a:bodyPr wrap="square" anchor="t">
            <a:spAutoFit/>
          </a:bodyPr>
          <a:lstStyle/>
          <a:p>
            <a:pPr algn="l"/>
            <a:r>
              <a:rPr sz="3400" b="1">
                <a:solidFill>
                  <a:srgbClr val="1C2530"/>
                </a:solidFill>
                <a:latin typeface="Aptos"/>
              </a:rPr>
              <a:t>Linux vs Windows</a:t>
            </a:r>
          </a:p>
        </p:txBody>
      </p:sp>
      <p:sp>
        <p:nvSpPr>
          <p:cNvPr id="7" name="TextBox 6"/>
          <p:cNvSpPr txBox="1"/>
          <p:nvPr/>
        </p:nvSpPr>
        <p:spPr>
          <a:xfrm>
            <a:off x="713232" y="1938528"/>
            <a:ext cx="6126480" cy="594360"/>
          </a:xfrm>
          <a:prstGeom prst="rect">
            <a:avLst/>
          </a:prstGeom>
          <a:noFill/>
        </p:spPr>
        <p:txBody>
          <a:bodyPr wrap="square" anchor="t">
            <a:spAutoFit/>
          </a:bodyPr>
          <a:lstStyle/>
          <a:p>
            <a:pPr algn="l"/>
            <a:r>
              <a:rPr sz="1600" b="0">
                <a:solidFill>
                  <a:srgbClr val="5C6978"/>
                </a:solidFill>
                <a:latin typeface="Aptos"/>
              </a:rPr>
              <a:t>A practical comparison of two major desktop operating systems</a:t>
            </a:r>
          </a:p>
        </p:txBody>
      </p:sp>
      <p:sp>
        <p:nvSpPr>
          <p:cNvPr id="8" name="Rounded Rectangle 7"/>
          <p:cNvSpPr/>
          <p:nvPr/>
        </p:nvSpPr>
        <p:spPr>
          <a:xfrm>
            <a:off x="713232" y="2907792"/>
            <a:ext cx="1234440" cy="292608"/>
          </a:xfrm>
          <a:prstGeom prst="round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13232" y="2921508"/>
            <a:ext cx="1234440" cy="228600"/>
          </a:xfrm>
          <a:prstGeom prst="rect">
            <a:avLst/>
          </a:prstGeom>
          <a:noFill/>
        </p:spPr>
        <p:txBody>
          <a:bodyPr wrap="square" anchor="t">
            <a:spAutoFit/>
          </a:bodyPr>
          <a:lstStyle/>
          <a:p>
            <a:pPr algn="ctr"/>
            <a:r>
              <a:rPr sz="900" b="1">
                <a:solidFill>
                  <a:srgbClr val="FFFFFF"/>
                </a:solidFill>
                <a:latin typeface="Aptos"/>
              </a:rPr>
              <a:t>WINDOWS</a:t>
            </a:r>
          </a:p>
        </p:txBody>
      </p:sp>
      <p:sp>
        <p:nvSpPr>
          <p:cNvPr id="10" name="Rounded Rectangle 9"/>
          <p:cNvSpPr/>
          <p:nvPr/>
        </p:nvSpPr>
        <p:spPr>
          <a:xfrm>
            <a:off x="2075688" y="2907792"/>
            <a:ext cx="960120" cy="292608"/>
          </a:xfrm>
          <a:prstGeom prst="round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075688" y="2921508"/>
            <a:ext cx="960120" cy="228600"/>
          </a:xfrm>
          <a:prstGeom prst="rect">
            <a:avLst/>
          </a:prstGeom>
          <a:noFill/>
        </p:spPr>
        <p:txBody>
          <a:bodyPr wrap="square" anchor="t">
            <a:spAutoFit/>
          </a:bodyPr>
          <a:lstStyle/>
          <a:p>
            <a:pPr algn="ctr"/>
            <a:r>
              <a:rPr sz="900" b="1">
                <a:solidFill>
                  <a:srgbClr val="FFFFFF"/>
                </a:solidFill>
                <a:latin typeface="Aptos"/>
              </a:rPr>
              <a:t>LINUX</a:t>
            </a:r>
          </a:p>
        </p:txBody>
      </p:sp>
      <p:pic>
        <p:nvPicPr>
          <p:cNvPr id="12" name="Picture 11" descr="Win 11.png"/>
          <p:cNvPicPr>
            <a:picLocks noChangeAspect="1"/>
          </p:cNvPicPr>
          <p:nvPr/>
        </p:nvPicPr>
        <p:blipFill>
          <a:blip r:embed="rId2"/>
          <a:srcRect l="3803" r="3803"/>
          <a:stretch>
            <a:fillRect/>
          </a:stretch>
        </p:blipFill>
        <p:spPr>
          <a:xfrm>
            <a:off x="8183879" y="922583"/>
            <a:ext cx="3246120" cy="1309514"/>
          </a:xfrm>
          <a:prstGeom prst="rect">
            <a:avLst/>
          </a:prstGeom>
        </p:spPr>
      </p:pic>
      <p:pic>
        <p:nvPicPr>
          <p:cNvPr id="13" name="Picture 12" descr="Linux.jpg"/>
          <p:cNvPicPr>
            <a:picLocks noChangeAspect="1"/>
          </p:cNvPicPr>
          <p:nvPr/>
        </p:nvPicPr>
        <p:blipFill>
          <a:blip r:embed="rId3"/>
          <a:srcRect l="161" r="161"/>
          <a:stretch>
            <a:fillRect/>
          </a:stretch>
        </p:blipFill>
        <p:spPr>
          <a:xfrm>
            <a:off x="8183879" y="2544971"/>
            <a:ext cx="3246120" cy="1822922"/>
          </a:xfrm>
          <a:prstGeom prst="rect">
            <a:avLst/>
          </a:prstGeom>
        </p:spPr>
      </p:pic>
      <p:sp>
        <p:nvSpPr>
          <p:cNvPr id="14" name="TextBox 13"/>
          <p:cNvSpPr txBox="1"/>
          <p:nvPr/>
        </p:nvSpPr>
        <p:spPr>
          <a:xfrm>
            <a:off x="713232" y="5897880"/>
            <a:ext cx="2743200" cy="274320"/>
          </a:xfrm>
          <a:prstGeom prst="rect">
            <a:avLst/>
          </a:prstGeom>
          <a:noFill/>
        </p:spPr>
        <p:txBody>
          <a:bodyPr wrap="square" anchor="t">
            <a:spAutoFit/>
          </a:bodyPr>
          <a:lstStyle/>
          <a:p>
            <a:pPr algn="l"/>
            <a:r>
              <a:rPr sz="1100" b="1">
                <a:solidFill>
                  <a:srgbClr val="1C2530"/>
                </a:solidFill>
                <a:latin typeface="Aptos"/>
              </a:rPr>
              <a:t>11-slide lecture deck</a:t>
            </a:r>
          </a:p>
        </p:txBody>
      </p:sp>
      <p:sp>
        <p:nvSpPr>
          <p:cNvPr id="15" name="Rectangle 14"/>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01  /  11</a:t>
            </a:r>
          </a:p>
        </p:txBody>
      </p:sp>
    </p:spTree>
  </p:cSld>
  <p:transition spd="med">
    <p:fade/>
  </p:transition>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01</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What are Windows and Linux?</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One familiar platform. One open ecosystem.</a:t>
            </a:r>
          </a:p>
        </p:txBody>
      </p:sp>
      <p:sp>
        <p:nvSpPr>
          <p:cNvPr id="5" name="Rounded Rectangle 4"/>
          <p:cNvSpPr/>
          <p:nvPr/>
        </p:nvSpPr>
        <p:spPr>
          <a:xfrm>
            <a:off x="658368" y="1783080"/>
            <a:ext cx="5257800" cy="361188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83080"/>
            <a:ext cx="54864" cy="3611880"/>
          </a:xfrm>
          <a:prstGeom prst="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6272784" y="1783080"/>
            <a:ext cx="5257800" cy="361188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272784" y="1783080"/>
            <a:ext cx="54864" cy="3611880"/>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Win 11.png"/>
          <p:cNvPicPr>
            <a:picLocks noChangeAspect="1"/>
          </p:cNvPicPr>
          <p:nvPr/>
        </p:nvPicPr>
        <p:blipFill>
          <a:blip r:embed="rId2"/>
          <a:srcRect l="2936" r="2936"/>
          <a:stretch>
            <a:fillRect/>
          </a:stretch>
        </p:blipFill>
        <p:spPr>
          <a:xfrm>
            <a:off x="960120" y="2058153"/>
            <a:ext cx="2240280" cy="903749"/>
          </a:xfrm>
          <a:prstGeom prst="rect">
            <a:avLst/>
          </a:prstGeom>
        </p:spPr>
      </p:pic>
      <p:sp>
        <p:nvSpPr>
          <p:cNvPr id="10" name="TextBox 9"/>
          <p:cNvSpPr txBox="1"/>
          <p:nvPr/>
        </p:nvSpPr>
        <p:spPr>
          <a:xfrm>
            <a:off x="3401568" y="2103120"/>
            <a:ext cx="1920240" cy="274320"/>
          </a:xfrm>
          <a:prstGeom prst="rect">
            <a:avLst/>
          </a:prstGeom>
          <a:noFill/>
        </p:spPr>
        <p:txBody>
          <a:bodyPr wrap="square" anchor="t">
            <a:spAutoFit/>
          </a:bodyPr>
          <a:lstStyle/>
          <a:p>
            <a:pPr algn="l"/>
            <a:r>
              <a:rPr sz="1800" b="1">
                <a:solidFill>
                  <a:srgbClr val="0070F3"/>
                </a:solidFill>
                <a:latin typeface="Aptos"/>
              </a:rPr>
              <a:t>WINDOWS</a:t>
            </a:r>
          </a:p>
        </p:txBody>
      </p:sp>
      <p:sp>
        <p:nvSpPr>
          <p:cNvPr id="11" name="TextBox 10"/>
          <p:cNvSpPr txBox="1"/>
          <p:nvPr/>
        </p:nvSpPr>
        <p:spPr>
          <a:xfrm>
            <a:off x="960120" y="3246120"/>
            <a:ext cx="4526280" cy="1097280"/>
          </a:xfrm>
          <a:prstGeom prst="rect">
            <a:avLst/>
          </a:prstGeom>
          <a:noFill/>
        </p:spPr>
        <p:txBody>
          <a:bodyPr wrap="square" anchor="t">
            <a:spAutoFit/>
          </a:bodyPr>
          <a:lstStyle/>
          <a:p>
            <a:pPr algn="l"/>
            <a:r>
              <a:rPr sz="1600" b="0">
                <a:solidFill>
                  <a:srgbClr val="1C2530"/>
                </a:solidFill>
                <a:latin typeface="Aptos"/>
              </a:rPr>
              <a:t>Developed by Microsoft
A mainstream desktop OS built around a consistent user experience.</a:t>
            </a:r>
          </a:p>
        </p:txBody>
      </p:sp>
      <p:sp>
        <p:nvSpPr>
          <p:cNvPr id="12" name="Rounded Rectangle 11"/>
          <p:cNvSpPr/>
          <p:nvPr/>
        </p:nvSpPr>
        <p:spPr>
          <a:xfrm>
            <a:off x="960120" y="4736592"/>
            <a:ext cx="1234440" cy="292608"/>
          </a:xfrm>
          <a:prstGeom prst="round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4750307"/>
            <a:ext cx="1234440" cy="228600"/>
          </a:xfrm>
          <a:prstGeom prst="rect">
            <a:avLst/>
          </a:prstGeom>
          <a:noFill/>
        </p:spPr>
        <p:txBody>
          <a:bodyPr wrap="square" anchor="t">
            <a:spAutoFit/>
          </a:bodyPr>
          <a:lstStyle/>
          <a:p>
            <a:pPr algn="ctr"/>
            <a:r>
              <a:rPr sz="900" b="1">
                <a:solidFill>
                  <a:srgbClr val="FFFFFF"/>
                </a:solidFill>
                <a:latin typeface="Aptos"/>
              </a:rPr>
              <a:t>PROPRIETARY</a:t>
            </a:r>
          </a:p>
        </p:txBody>
      </p:sp>
      <p:pic>
        <p:nvPicPr>
          <p:cNvPr id="14" name="Picture 13" descr="Linux.jpg"/>
          <p:cNvPicPr>
            <a:picLocks noChangeAspect="1"/>
          </p:cNvPicPr>
          <p:nvPr/>
        </p:nvPicPr>
        <p:blipFill>
          <a:blip r:embed="rId3"/>
          <a:srcRect t="11842" b="11842"/>
          <a:stretch>
            <a:fillRect/>
          </a:stretch>
        </p:blipFill>
        <p:spPr>
          <a:xfrm>
            <a:off x="6830678" y="2029968"/>
            <a:ext cx="1709707" cy="960119"/>
          </a:xfrm>
          <a:prstGeom prst="rect">
            <a:avLst/>
          </a:prstGeom>
        </p:spPr>
      </p:pic>
      <p:sp>
        <p:nvSpPr>
          <p:cNvPr id="15" name="TextBox 14"/>
          <p:cNvSpPr txBox="1"/>
          <p:nvPr/>
        </p:nvSpPr>
        <p:spPr>
          <a:xfrm>
            <a:off x="9006840" y="2103120"/>
            <a:ext cx="1920240" cy="274320"/>
          </a:xfrm>
          <a:prstGeom prst="rect">
            <a:avLst/>
          </a:prstGeom>
          <a:noFill/>
        </p:spPr>
        <p:txBody>
          <a:bodyPr wrap="square" anchor="t">
            <a:spAutoFit/>
          </a:bodyPr>
          <a:lstStyle/>
          <a:p>
            <a:pPr algn="l"/>
            <a:r>
              <a:rPr sz="1800" b="1">
                <a:solidFill>
                  <a:srgbClr val="EF692A"/>
                </a:solidFill>
                <a:latin typeface="Aptos"/>
              </a:rPr>
              <a:t>LINUX</a:t>
            </a:r>
          </a:p>
        </p:txBody>
      </p:sp>
      <p:sp>
        <p:nvSpPr>
          <p:cNvPr id="16" name="TextBox 15"/>
          <p:cNvSpPr txBox="1"/>
          <p:nvPr/>
        </p:nvSpPr>
        <p:spPr>
          <a:xfrm>
            <a:off x="6565392" y="3246120"/>
            <a:ext cx="4526280" cy="1097280"/>
          </a:xfrm>
          <a:prstGeom prst="rect">
            <a:avLst/>
          </a:prstGeom>
          <a:noFill/>
        </p:spPr>
        <p:txBody>
          <a:bodyPr wrap="square" anchor="t">
            <a:spAutoFit/>
          </a:bodyPr>
          <a:lstStyle/>
          <a:p>
            <a:pPr algn="l"/>
            <a:r>
              <a:rPr sz="1600" b="0">
                <a:solidFill>
                  <a:srgbClr val="1C2530"/>
                </a:solidFill>
                <a:latin typeface="Aptos"/>
              </a:rPr>
              <a:t>Open source, with many distributions
Users can choose different desktops, tools and workflows.</a:t>
            </a:r>
          </a:p>
        </p:txBody>
      </p:sp>
      <p:sp>
        <p:nvSpPr>
          <p:cNvPr id="17" name="Rounded Rectangle 16"/>
          <p:cNvSpPr/>
          <p:nvPr/>
        </p:nvSpPr>
        <p:spPr>
          <a:xfrm>
            <a:off x="6565392" y="4736592"/>
            <a:ext cx="1325880" cy="292608"/>
          </a:xfrm>
          <a:prstGeom prst="round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65392" y="4750307"/>
            <a:ext cx="1325880" cy="228600"/>
          </a:xfrm>
          <a:prstGeom prst="rect">
            <a:avLst/>
          </a:prstGeom>
          <a:noFill/>
        </p:spPr>
        <p:txBody>
          <a:bodyPr wrap="square" anchor="t">
            <a:spAutoFit/>
          </a:bodyPr>
          <a:lstStyle/>
          <a:p>
            <a:pPr algn="ctr"/>
            <a:r>
              <a:rPr sz="900" b="1">
                <a:solidFill>
                  <a:srgbClr val="FFFFFF"/>
                </a:solidFill>
                <a:latin typeface="Aptos"/>
              </a:rPr>
              <a:t>OPEN SOURCE</a:t>
            </a:r>
          </a:p>
        </p:txBody>
      </p:sp>
      <p:sp>
        <p:nvSpPr>
          <p:cNvPr id="19" name="Rectangle 18"/>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02  /  11</a:t>
            </a:r>
          </a:p>
        </p:txBody>
      </p:sp>
    </p:spTree>
  </p:cSld>
  <p:transition spd="med">
    <p:push dir="l"/>
  </p:transition>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02</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Distributions of Linux VS Windows Versions</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Linux branches into families; Windows moves through major versions.</a:t>
            </a:r>
          </a:p>
        </p:txBody>
      </p:sp>
      <p:sp>
        <p:nvSpPr>
          <p:cNvPr id="5" name="TextBox 4"/>
          <p:cNvSpPr txBox="1"/>
          <p:nvPr/>
        </p:nvSpPr>
        <p:spPr>
          <a:xfrm>
            <a:off x="658368" y="1664208"/>
            <a:ext cx="4480560" cy="274320"/>
          </a:xfrm>
          <a:prstGeom prst="rect">
            <a:avLst/>
          </a:prstGeom>
          <a:noFill/>
        </p:spPr>
        <p:txBody>
          <a:bodyPr wrap="square" anchor="t">
            <a:spAutoFit/>
          </a:bodyPr>
          <a:lstStyle/>
          <a:p>
            <a:pPr algn="l"/>
            <a:r>
              <a:rPr sz="1200" b="1">
                <a:solidFill>
                  <a:srgbClr val="EF692A"/>
                </a:solidFill>
                <a:latin typeface="Aptos"/>
              </a:rPr>
              <a:t>LINUX FAMILIES</a:t>
            </a:r>
          </a:p>
        </p:txBody>
      </p:sp>
      <p:sp>
        <p:nvSpPr>
          <p:cNvPr id="6" name="Rounded Rectangle 5"/>
          <p:cNvSpPr/>
          <p:nvPr/>
        </p:nvSpPr>
        <p:spPr>
          <a:xfrm>
            <a:off x="658368" y="2103120"/>
            <a:ext cx="5074920" cy="841248"/>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58368" y="2103120"/>
            <a:ext cx="54864" cy="841248"/>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96112" y="2221991"/>
            <a:ext cx="1920240" cy="228600"/>
          </a:xfrm>
          <a:prstGeom prst="rect">
            <a:avLst/>
          </a:prstGeom>
          <a:noFill/>
        </p:spPr>
        <p:txBody>
          <a:bodyPr wrap="square" anchor="t">
            <a:spAutoFit/>
          </a:bodyPr>
          <a:lstStyle/>
          <a:p>
            <a:pPr algn="l"/>
            <a:r>
              <a:rPr sz="1300" b="1">
                <a:solidFill>
                  <a:srgbClr val="1C2530"/>
                </a:solidFill>
                <a:latin typeface="Aptos"/>
              </a:rPr>
              <a:t>Debian-based</a:t>
            </a:r>
          </a:p>
        </p:txBody>
      </p:sp>
      <p:pic>
        <p:nvPicPr>
          <p:cNvPr id="9" name="Picture 8" descr="Linux.jpg"/>
          <p:cNvPicPr>
            <a:picLocks noChangeAspect="1"/>
          </p:cNvPicPr>
          <p:nvPr/>
        </p:nvPicPr>
        <p:blipFill>
          <a:blip r:embed="rId2"/>
          <a:srcRect l="21922" r="21922"/>
          <a:stretch>
            <a:fillRect/>
          </a:stretch>
        </p:blipFill>
        <p:spPr>
          <a:xfrm>
            <a:off x="2907792" y="2309064"/>
            <a:ext cx="438912" cy="246479"/>
          </a:xfrm>
          <a:prstGeom prst="rect">
            <a:avLst/>
          </a:prstGeom>
        </p:spPr>
      </p:pic>
      <p:pic>
        <p:nvPicPr>
          <p:cNvPr id="10" name="Picture 9" descr="Linux.jpg"/>
          <p:cNvPicPr>
            <a:picLocks noChangeAspect="1"/>
          </p:cNvPicPr>
          <p:nvPr/>
        </p:nvPicPr>
        <p:blipFill>
          <a:blip r:embed="rId2"/>
          <a:srcRect l="21922" r="21922"/>
          <a:stretch>
            <a:fillRect/>
          </a:stretch>
        </p:blipFill>
        <p:spPr>
          <a:xfrm>
            <a:off x="3456432" y="2309064"/>
            <a:ext cx="438912" cy="246479"/>
          </a:xfrm>
          <a:prstGeom prst="rect">
            <a:avLst/>
          </a:prstGeom>
        </p:spPr>
      </p:pic>
      <p:sp>
        <p:nvSpPr>
          <p:cNvPr id="11" name="TextBox 10"/>
          <p:cNvSpPr txBox="1"/>
          <p:nvPr/>
        </p:nvSpPr>
        <p:spPr>
          <a:xfrm>
            <a:off x="896112" y="2606039"/>
            <a:ext cx="4389120" cy="164592"/>
          </a:xfrm>
          <a:prstGeom prst="rect">
            <a:avLst/>
          </a:prstGeom>
          <a:noFill/>
        </p:spPr>
        <p:txBody>
          <a:bodyPr wrap="square" anchor="t">
            <a:spAutoFit/>
          </a:bodyPr>
          <a:lstStyle/>
          <a:p>
            <a:pPr algn="l"/>
            <a:r>
              <a:rPr sz="800" b="0">
                <a:solidFill>
                  <a:srgbClr val="5C6978"/>
                </a:solidFill>
                <a:latin typeface="Aptos"/>
              </a:rPr>
              <a:t>Debian • Ubuntu • Linux Mint</a:t>
            </a:r>
          </a:p>
        </p:txBody>
      </p:sp>
      <p:sp>
        <p:nvSpPr>
          <p:cNvPr id="12" name="Rounded Rectangle 11"/>
          <p:cNvSpPr/>
          <p:nvPr/>
        </p:nvSpPr>
        <p:spPr>
          <a:xfrm>
            <a:off x="658368" y="3127248"/>
            <a:ext cx="5074920" cy="841248"/>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127248"/>
            <a:ext cx="54864" cy="841248"/>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3246120"/>
            <a:ext cx="1920240" cy="228600"/>
          </a:xfrm>
          <a:prstGeom prst="rect">
            <a:avLst/>
          </a:prstGeom>
          <a:noFill/>
        </p:spPr>
        <p:txBody>
          <a:bodyPr wrap="square" anchor="t">
            <a:spAutoFit/>
          </a:bodyPr>
          <a:lstStyle/>
          <a:p>
            <a:pPr algn="l"/>
            <a:r>
              <a:rPr sz="1300" b="1">
                <a:solidFill>
                  <a:srgbClr val="1C2530"/>
                </a:solidFill>
                <a:latin typeface="Aptos"/>
              </a:rPr>
              <a:t>Red Hat-based</a:t>
            </a:r>
          </a:p>
        </p:txBody>
      </p:sp>
      <p:pic>
        <p:nvPicPr>
          <p:cNvPr id="15" name="Picture 14" descr="Red Hat Enterprise Linux.png"/>
          <p:cNvPicPr>
            <a:picLocks noChangeAspect="1"/>
          </p:cNvPicPr>
          <p:nvPr/>
        </p:nvPicPr>
        <p:blipFill>
          <a:blip r:embed="rId3"/>
          <a:srcRect l="5714" r="5714"/>
          <a:stretch>
            <a:fillRect/>
          </a:stretch>
        </p:blipFill>
        <p:spPr>
          <a:xfrm>
            <a:off x="2907792" y="3262057"/>
            <a:ext cx="438912" cy="388750"/>
          </a:xfrm>
          <a:prstGeom prst="rect">
            <a:avLst/>
          </a:prstGeom>
        </p:spPr>
      </p:pic>
      <p:pic>
        <p:nvPicPr>
          <p:cNvPr id="16" name="Picture 15" descr="linux-fedora.png"/>
          <p:cNvPicPr>
            <a:picLocks noChangeAspect="1"/>
          </p:cNvPicPr>
          <p:nvPr/>
        </p:nvPicPr>
        <p:blipFill>
          <a:blip r:embed="rId4"/>
          <a:stretch>
            <a:fillRect/>
          </a:stretch>
        </p:blipFill>
        <p:spPr>
          <a:xfrm>
            <a:off x="3456432" y="3236976"/>
            <a:ext cx="438912" cy="438912"/>
          </a:xfrm>
          <a:prstGeom prst="rect">
            <a:avLst/>
          </a:prstGeom>
        </p:spPr>
      </p:pic>
      <p:pic>
        <p:nvPicPr>
          <p:cNvPr id="17" name="Picture 16" descr="Rocky Linux.png"/>
          <p:cNvPicPr>
            <a:picLocks noChangeAspect="1"/>
          </p:cNvPicPr>
          <p:nvPr/>
        </p:nvPicPr>
        <p:blipFill>
          <a:blip r:embed="rId5"/>
          <a:stretch>
            <a:fillRect/>
          </a:stretch>
        </p:blipFill>
        <p:spPr>
          <a:xfrm>
            <a:off x="4005072" y="3236976"/>
            <a:ext cx="438912" cy="438912"/>
          </a:xfrm>
          <a:prstGeom prst="rect">
            <a:avLst/>
          </a:prstGeom>
        </p:spPr>
      </p:pic>
      <p:pic>
        <p:nvPicPr>
          <p:cNvPr id="18" name="Picture 17" descr="AlmaLinux.png"/>
          <p:cNvPicPr>
            <a:picLocks noChangeAspect="1"/>
          </p:cNvPicPr>
          <p:nvPr/>
        </p:nvPicPr>
        <p:blipFill>
          <a:blip r:embed="rId6"/>
          <a:stretch>
            <a:fillRect/>
          </a:stretch>
        </p:blipFill>
        <p:spPr>
          <a:xfrm>
            <a:off x="4553712" y="3236976"/>
            <a:ext cx="438912" cy="438912"/>
          </a:xfrm>
          <a:prstGeom prst="rect">
            <a:avLst/>
          </a:prstGeom>
        </p:spPr>
      </p:pic>
      <p:sp>
        <p:nvSpPr>
          <p:cNvPr id="19" name="TextBox 18"/>
          <p:cNvSpPr txBox="1"/>
          <p:nvPr/>
        </p:nvSpPr>
        <p:spPr>
          <a:xfrm>
            <a:off x="896112" y="3630168"/>
            <a:ext cx="4389120" cy="164592"/>
          </a:xfrm>
          <a:prstGeom prst="rect">
            <a:avLst/>
          </a:prstGeom>
          <a:noFill/>
        </p:spPr>
        <p:txBody>
          <a:bodyPr wrap="square" anchor="t">
            <a:spAutoFit/>
          </a:bodyPr>
          <a:lstStyle/>
          <a:p>
            <a:pPr algn="l"/>
            <a:r>
              <a:rPr sz="800" b="0">
                <a:solidFill>
                  <a:srgbClr val="5C6978"/>
                </a:solidFill>
                <a:latin typeface="Aptos"/>
              </a:rPr>
              <a:t>RHEL • Fedora • Rocky • AlmaLinux</a:t>
            </a:r>
          </a:p>
        </p:txBody>
      </p:sp>
      <p:sp>
        <p:nvSpPr>
          <p:cNvPr id="20" name="Rounded Rectangle 19"/>
          <p:cNvSpPr/>
          <p:nvPr/>
        </p:nvSpPr>
        <p:spPr>
          <a:xfrm>
            <a:off x="658368" y="4151376"/>
            <a:ext cx="5074920" cy="841248"/>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4151376"/>
            <a:ext cx="54864" cy="841248"/>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96112" y="4270248"/>
            <a:ext cx="1920240" cy="228600"/>
          </a:xfrm>
          <a:prstGeom prst="rect">
            <a:avLst/>
          </a:prstGeom>
          <a:noFill/>
        </p:spPr>
        <p:txBody>
          <a:bodyPr wrap="square" anchor="t">
            <a:spAutoFit/>
          </a:bodyPr>
          <a:lstStyle/>
          <a:p>
            <a:pPr algn="l"/>
            <a:r>
              <a:rPr sz="1300" b="1">
                <a:solidFill>
                  <a:srgbClr val="1C2530"/>
                </a:solidFill>
                <a:latin typeface="Aptos"/>
              </a:rPr>
              <a:t>Arch-based</a:t>
            </a:r>
          </a:p>
        </p:txBody>
      </p:sp>
      <p:pic>
        <p:nvPicPr>
          <p:cNvPr id="23" name="Picture 22" descr="Arch Linux.png"/>
          <p:cNvPicPr>
            <a:picLocks noChangeAspect="1"/>
          </p:cNvPicPr>
          <p:nvPr/>
        </p:nvPicPr>
        <p:blipFill>
          <a:blip r:embed="rId7"/>
          <a:stretch>
            <a:fillRect/>
          </a:stretch>
        </p:blipFill>
        <p:spPr>
          <a:xfrm>
            <a:off x="2907792" y="4261104"/>
            <a:ext cx="438912" cy="438912"/>
          </a:xfrm>
          <a:prstGeom prst="rect">
            <a:avLst/>
          </a:prstGeom>
        </p:spPr>
      </p:pic>
      <p:pic>
        <p:nvPicPr>
          <p:cNvPr id="24" name="Picture 23" descr="Manjaro.png"/>
          <p:cNvPicPr>
            <a:picLocks noChangeAspect="1"/>
          </p:cNvPicPr>
          <p:nvPr/>
        </p:nvPicPr>
        <p:blipFill>
          <a:blip r:embed="rId8"/>
          <a:srcRect l="38448" r="38448"/>
          <a:stretch>
            <a:fillRect/>
          </a:stretch>
        </p:blipFill>
        <p:spPr>
          <a:xfrm>
            <a:off x="3456432" y="4429855"/>
            <a:ext cx="438912" cy="101409"/>
          </a:xfrm>
          <a:prstGeom prst="rect">
            <a:avLst/>
          </a:prstGeom>
        </p:spPr>
      </p:pic>
      <p:sp>
        <p:nvSpPr>
          <p:cNvPr id="25" name="TextBox 24"/>
          <p:cNvSpPr txBox="1"/>
          <p:nvPr/>
        </p:nvSpPr>
        <p:spPr>
          <a:xfrm>
            <a:off x="896112" y="4654296"/>
            <a:ext cx="4389120" cy="164592"/>
          </a:xfrm>
          <a:prstGeom prst="rect">
            <a:avLst/>
          </a:prstGeom>
          <a:noFill/>
        </p:spPr>
        <p:txBody>
          <a:bodyPr wrap="square" anchor="t">
            <a:spAutoFit/>
          </a:bodyPr>
          <a:lstStyle/>
          <a:p>
            <a:pPr algn="l"/>
            <a:r>
              <a:rPr sz="800" b="0">
                <a:solidFill>
                  <a:srgbClr val="5C6978"/>
                </a:solidFill>
                <a:latin typeface="Aptos"/>
              </a:rPr>
              <a:t>Arch Linux • Manjaro</a:t>
            </a:r>
          </a:p>
        </p:txBody>
      </p:sp>
      <p:sp>
        <p:nvSpPr>
          <p:cNvPr id="26" name="TextBox 25"/>
          <p:cNvSpPr txBox="1"/>
          <p:nvPr/>
        </p:nvSpPr>
        <p:spPr>
          <a:xfrm>
            <a:off x="6144768" y="1664208"/>
            <a:ext cx="4846320" cy="274320"/>
          </a:xfrm>
          <a:prstGeom prst="rect">
            <a:avLst/>
          </a:prstGeom>
          <a:noFill/>
        </p:spPr>
        <p:txBody>
          <a:bodyPr wrap="square" anchor="t">
            <a:spAutoFit/>
          </a:bodyPr>
          <a:lstStyle/>
          <a:p>
            <a:pPr algn="l"/>
            <a:r>
              <a:rPr sz="1200" b="1">
                <a:solidFill>
                  <a:srgbClr val="0070F3"/>
                </a:solidFill>
                <a:latin typeface="Aptos"/>
              </a:rPr>
              <a:t>WINDOWS VERSIONS</a:t>
            </a:r>
          </a:p>
        </p:txBody>
      </p:sp>
      <p:pic>
        <p:nvPicPr>
          <p:cNvPr id="27" name="Picture 26" descr="Windows XP.png"/>
          <p:cNvPicPr>
            <a:picLocks noChangeAspect="1"/>
          </p:cNvPicPr>
          <p:nvPr/>
        </p:nvPicPr>
        <p:blipFill>
          <a:blip r:embed="rId9"/>
          <a:srcRect t="6098" b="6098"/>
          <a:stretch>
            <a:fillRect/>
          </a:stretch>
        </p:blipFill>
        <p:spPr>
          <a:xfrm>
            <a:off x="6245352" y="2176272"/>
            <a:ext cx="658368" cy="658368"/>
          </a:xfrm>
          <a:prstGeom prst="rect">
            <a:avLst/>
          </a:prstGeom>
        </p:spPr>
      </p:pic>
      <p:sp>
        <p:nvSpPr>
          <p:cNvPr id="28" name="TextBox 27"/>
          <p:cNvSpPr txBox="1"/>
          <p:nvPr/>
        </p:nvSpPr>
        <p:spPr>
          <a:xfrm>
            <a:off x="6199632" y="2880360"/>
            <a:ext cx="749808" cy="201168"/>
          </a:xfrm>
          <a:prstGeom prst="rect">
            <a:avLst/>
          </a:prstGeom>
          <a:noFill/>
        </p:spPr>
        <p:txBody>
          <a:bodyPr wrap="square" anchor="t">
            <a:spAutoFit/>
          </a:bodyPr>
          <a:lstStyle/>
          <a:p>
            <a:pPr algn="ctr"/>
            <a:r>
              <a:rPr sz="1000" b="1">
                <a:solidFill>
                  <a:srgbClr val="0070F3"/>
                </a:solidFill>
                <a:latin typeface="Aptos"/>
              </a:rPr>
              <a:t>XP</a:t>
            </a:r>
          </a:p>
        </p:txBody>
      </p:sp>
      <p:sp>
        <p:nvSpPr>
          <p:cNvPr id="29" name="Rectangle 28"/>
          <p:cNvSpPr/>
          <p:nvPr/>
        </p:nvSpPr>
        <p:spPr>
          <a:xfrm>
            <a:off x="6949440" y="2468880"/>
            <a:ext cx="137160" cy="22860"/>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Windows Vista.jpg"/>
          <p:cNvPicPr>
            <a:picLocks noChangeAspect="1"/>
          </p:cNvPicPr>
          <p:nvPr/>
        </p:nvPicPr>
        <p:blipFill>
          <a:blip r:embed="rId10"/>
          <a:srcRect l="2743" r="2743"/>
          <a:stretch>
            <a:fillRect/>
          </a:stretch>
        </p:blipFill>
        <p:spPr>
          <a:xfrm>
            <a:off x="6995160" y="2194332"/>
            <a:ext cx="749808" cy="622247"/>
          </a:xfrm>
          <a:prstGeom prst="rect">
            <a:avLst/>
          </a:prstGeom>
        </p:spPr>
      </p:pic>
      <p:sp>
        <p:nvSpPr>
          <p:cNvPr id="31" name="TextBox 30"/>
          <p:cNvSpPr txBox="1"/>
          <p:nvPr/>
        </p:nvSpPr>
        <p:spPr>
          <a:xfrm>
            <a:off x="6995160" y="2880360"/>
            <a:ext cx="749808" cy="201168"/>
          </a:xfrm>
          <a:prstGeom prst="rect">
            <a:avLst/>
          </a:prstGeom>
          <a:noFill/>
        </p:spPr>
        <p:txBody>
          <a:bodyPr wrap="square" anchor="t">
            <a:spAutoFit/>
          </a:bodyPr>
          <a:lstStyle/>
          <a:p>
            <a:pPr algn="ctr"/>
            <a:r>
              <a:rPr sz="1000" b="1">
                <a:solidFill>
                  <a:srgbClr val="0070F3"/>
                </a:solidFill>
                <a:latin typeface="Aptos"/>
              </a:rPr>
              <a:t>Vista</a:t>
            </a:r>
          </a:p>
        </p:txBody>
      </p:sp>
      <p:sp>
        <p:nvSpPr>
          <p:cNvPr id="32" name="Rectangle 31"/>
          <p:cNvSpPr/>
          <p:nvPr/>
        </p:nvSpPr>
        <p:spPr>
          <a:xfrm>
            <a:off x="7744968" y="2468880"/>
            <a:ext cx="137160" cy="22860"/>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3" name="Picture 32" descr="Windows 7.png"/>
          <p:cNvPicPr>
            <a:picLocks noChangeAspect="1"/>
          </p:cNvPicPr>
          <p:nvPr/>
        </p:nvPicPr>
        <p:blipFill>
          <a:blip r:embed="rId11"/>
          <a:srcRect l="14121" r="14121"/>
          <a:stretch>
            <a:fillRect/>
          </a:stretch>
        </p:blipFill>
        <p:spPr>
          <a:xfrm>
            <a:off x="7790688" y="2269237"/>
            <a:ext cx="749808" cy="472437"/>
          </a:xfrm>
          <a:prstGeom prst="rect">
            <a:avLst/>
          </a:prstGeom>
        </p:spPr>
      </p:pic>
      <p:sp>
        <p:nvSpPr>
          <p:cNvPr id="34" name="TextBox 33"/>
          <p:cNvSpPr txBox="1"/>
          <p:nvPr/>
        </p:nvSpPr>
        <p:spPr>
          <a:xfrm>
            <a:off x="7790688" y="2880360"/>
            <a:ext cx="749808" cy="201168"/>
          </a:xfrm>
          <a:prstGeom prst="rect">
            <a:avLst/>
          </a:prstGeom>
          <a:noFill/>
        </p:spPr>
        <p:txBody>
          <a:bodyPr wrap="square" anchor="t">
            <a:spAutoFit/>
          </a:bodyPr>
          <a:lstStyle/>
          <a:p>
            <a:pPr algn="ctr"/>
            <a:r>
              <a:rPr sz="1000" b="1">
                <a:solidFill>
                  <a:srgbClr val="0070F3"/>
                </a:solidFill>
                <a:latin typeface="Aptos"/>
              </a:rPr>
              <a:t>7</a:t>
            </a:r>
          </a:p>
        </p:txBody>
      </p:sp>
      <p:sp>
        <p:nvSpPr>
          <p:cNvPr id="35" name="Rectangle 34"/>
          <p:cNvSpPr/>
          <p:nvPr/>
        </p:nvSpPr>
        <p:spPr>
          <a:xfrm>
            <a:off x="8540496" y="2468880"/>
            <a:ext cx="137160" cy="22860"/>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6" name="Picture 35" descr="Windows 8.png"/>
          <p:cNvPicPr>
            <a:picLocks noChangeAspect="1"/>
          </p:cNvPicPr>
          <p:nvPr/>
        </p:nvPicPr>
        <p:blipFill>
          <a:blip r:embed="rId12"/>
          <a:srcRect t="6098" b="6098"/>
          <a:stretch>
            <a:fillRect/>
          </a:stretch>
        </p:blipFill>
        <p:spPr>
          <a:xfrm>
            <a:off x="8631935" y="2176272"/>
            <a:ext cx="658368" cy="658368"/>
          </a:xfrm>
          <a:prstGeom prst="rect">
            <a:avLst/>
          </a:prstGeom>
        </p:spPr>
      </p:pic>
      <p:sp>
        <p:nvSpPr>
          <p:cNvPr id="37" name="TextBox 36"/>
          <p:cNvSpPr txBox="1"/>
          <p:nvPr/>
        </p:nvSpPr>
        <p:spPr>
          <a:xfrm>
            <a:off x="8586215" y="2880360"/>
            <a:ext cx="749808" cy="201168"/>
          </a:xfrm>
          <a:prstGeom prst="rect">
            <a:avLst/>
          </a:prstGeom>
          <a:noFill/>
        </p:spPr>
        <p:txBody>
          <a:bodyPr wrap="square" anchor="t">
            <a:spAutoFit/>
          </a:bodyPr>
          <a:lstStyle/>
          <a:p>
            <a:pPr algn="ctr"/>
            <a:r>
              <a:rPr sz="1000" b="1">
                <a:solidFill>
                  <a:srgbClr val="0070F3"/>
                </a:solidFill>
                <a:latin typeface="Aptos"/>
              </a:rPr>
              <a:t>8</a:t>
            </a:r>
          </a:p>
        </p:txBody>
      </p:sp>
      <p:sp>
        <p:nvSpPr>
          <p:cNvPr id="38" name="Rectangle 37"/>
          <p:cNvSpPr/>
          <p:nvPr/>
        </p:nvSpPr>
        <p:spPr>
          <a:xfrm>
            <a:off x="9336024" y="2468880"/>
            <a:ext cx="137160" cy="22860"/>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9" name="Picture 38" descr="Windows 8.1.jpg"/>
          <p:cNvPicPr>
            <a:picLocks noChangeAspect="1"/>
          </p:cNvPicPr>
          <p:nvPr/>
        </p:nvPicPr>
        <p:blipFill>
          <a:blip r:embed="rId13"/>
          <a:srcRect l="11408" r="11408"/>
          <a:stretch>
            <a:fillRect/>
          </a:stretch>
        </p:blipFill>
        <p:spPr>
          <a:xfrm>
            <a:off x="9381743" y="2251377"/>
            <a:ext cx="749808" cy="508157"/>
          </a:xfrm>
          <a:prstGeom prst="rect">
            <a:avLst/>
          </a:prstGeom>
        </p:spPr>
      </p:pic>
      <p:sp>
        <p:nvSpPr>
          <p:cNvPr id="40" name="TextBox 39"/>
          <p:cNvSpPr txBox="1"/>
          <p:nvPr/>
        </p:nvSpPr>
        <p:spPr>
          <a:xfrm>
            <a:off x="9381743" y="2880360"/>
            <a:ext cx="749808" cy="201168"/>
          </a:xfrm>
          <a:prstGeom prst="rect">
            <a:avLst/>
          </a:prstGeom>
          <a:noFill/>
        </p:spPr>
        <p:txBody>
          <a:bodyPr wrap="square" anchor="t">
            <a:spAutoFit/>
          </a:bodyPr>
          <a:lstStyle/>
          <a:p>
            <a:pPr algn="ctr"/>
            <a:r>
              <a:rPr sz="1000" b="1">
                <a:solidFill>
                  <a:srgbClr val="0070F3"/>
                </a:solidFill>
                <a:latin typeface="Aptos"/>
              </a:rPr>
              <a:t>8.1</a:t>
            </a:r>
          </a:p>
        </p:txBody>
      </p:sp>
      <p:sp>
        <p:nvSpPr>
          <p:cNvPr id="41" name="Rectangle 40"/>
          <p:cNvSpPr/>
          <p:nvPr/>
        </p:nvSpPr>
        <p:spPr>
          <a:xfrm>
            <a:off x="10131551" y="2468880"/>
            <a:ext cx="137160" cy="22860"/>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2" name="Picture 41" descr="Windows 10.png"/>
          <p:cNvPicPr>
            <a:picLocks noChangeAspect="1"/>
          </p:cNvPicPr>
          <p:nvPr/>
        </p:nvPicPr>
        <p:blipFill>
          <a:blip r:embed="rId14"/>
          <a:srcRect t="6098" b="6098"/>
          <a:stretch>
            <a:fillRect/>
          </a:stretch>
        </p:blipFill>
        <p:spPr>
          <a:xfrm>
            <a:off x="10222991" y="2176272"/>
            <a:ext cx="658368" cy="658368"/>
          </a:xfrm>
          <a:prstGeom prst="rect">
            <a:avLst/>
          </a:prstGeom>
        </p:spPr>
      </p:pic>
      <p:sp>
        <p:nvSpPr>
          <p:cNvPr id="43" name="TextBox 42"/>
          <p:cNvSpPr txBox="1"/>
          <p:nvPr/>
        </p:nvSpPr>
        <p:spPr>
          <a:xfrm>
            <a:off x="10177271" y="2880360"/>
            <a:ext cx="749808" cy="201168"/>
          </a:xfrm>
          <a:prstGeom prst="rect">
            <a:avLst/>
          </a:prstGeom>
          <a:noFill/>
        </p:spPr>
        <p:txBody>
          <a:bodyPr wrap="square" anchor="t">
            <a:spAutoFit/>
          </a:bodyPr>
          <a:lstStyle/>
          <a:p>
            <a:pPr algn="ctr"/>
            <a:r>
              <a:rPr sz="1000" b="1">
                <a:solidFill>
                  <a:srgbClr val="0070F3"/>
                </a:solidFill>
                <a:latin typeface="Aptos"/>
              </a:rPr>
              <a:t>10</a:t>
            </a:r>
          </a:p>
        </p:txBody>
      </p:sp>
      <p:sp>
        <p:nvSpPr>
          <p:cNvPr id="44" name="Rectangle 43"/>
          <p:cNvSpPr/>
          <p:nvPr/>
        </p:nvSpPr>
        <p:spPr>
          <a:xfrm>
            <a:off x="10927079" y="2468880"/>
            <a:ext cx="137160" cy="22860"/>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5" name="Picture 44" descr="Win 11.png"/>
          <p:cNvPicPr>
            <a:picLocks noChangeAspect="1"/>
          </p:cNvPicPr>
          <p:nvPr/>
        </p:nvPicPr>
        <p:blipFill>
          <a:blip r:embed="rId15"/>
          <a:srcRect l="27028" r="27028"/>
          <a:stretch>
            <a:fillRect/>
          </a:stretch>
        </p:blipFill>
        <p:spPr>
          <a:xfrm>
            <a:off x="10972799" y="2354216"/>
            <a:ext cx="749808" cy="302479"/>
          </a:xfrm>
          <a:prstGeom prst="rect">
            <a:avLst/>
          </a:prstGeom>
        </p:spPr>
      </p:pic>
      <p:sp>
        <p:nvSpPr>
          <p:cNvPr id="46" name="TextBox 45"/>
          <p:cNvSpPr txBox="1"/>
          <p:nvPr/>
        </p:nvSpPr>
        <p:spPr>
          <a:xfrm>
            <a:off x="10972799" y="2880360"/>
            <a:ext cx="749808" cy="201168"/>
          </a:xfrm>
          <a:prstGeom prst="rect">
            <a:avLst/>
          </a:prstGeom>
          <a:noFill/>
        </p:spPr>
        <p:txBody>
          <a:bodyPr wrap="square" anchor="t">
            <a:spAutoFit/>
          </a:bodyPr>
          <a:lstStyle/>
          <a:p>
            <a:pPr algn="ctr"/>
            <a:r>
              <a:rPr sz="1000" b="1">
                <a:solidFill>
                  <a:srgbClr val="0070F3"/>
                </a:solidFill>
                <a:latin typeface="Aptos"/>
              </a:rPr>
              <a:t>11</a:t>
            </a:r>
          </a:p>
        </p:txBody>
      </p:sp>
      <p:sp>
        <p:nvSpPr>
          <p:cNvPr id="47" name="Rectangle 46"/>
          <p:cNvSpPr/>
          <p:nvPr/>
        </p:nvSpPr>
        <p:spPr>
          <a:xfrm>
            <a:off x="6199632" y="3456432"/>
            <a:ext cx="5074920" cy="18288"/>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199632" y="3749039"/>
            <a:ext cx="3657600" cy="256032"/>
          </a:xfrm>
          <a:prstGeom prst="rect">
            <a:avLst/>
          </a:prstGeom>
          <a:noFill/>
        </p:spPr>
        <p:txBody>
          <a:bodyPr wrap="square" anchor="t">
            <a:spAutoFit/>
          </a:bodyPr>
          <a:lstStyle/>
          <a:p>
            <a:pPr algn="l"/>
            <a:r>
              <a:rPr sz="1500" b="1">
                <a:solidFill>
                  <a:srgbClr val="1C2530"/>
                </a:solidFill>
                <a:latin typeface="Aptos"/>
              </a:rPr>
              <a:t>ONE MAIN WINDOWS LINE</a:t>
            </a:r>
          </a:p>
        </p:txBody>
      </p:sp>
      <p:sp>
        <p:nvSpPr>
          <p:cNvPr id="49" name="TextBox 48"/>
          <p:cNvSpPr txBox="1"/>
          <p:nvPr/>
        </p:nvSpPr>
        <p:spPr>
          <a:xfrm>
            <a:off x="6199632" y="4187952"/>
            <a:ext cx="5029200" cy="292608"/>
          </a:xfrm>
          <a:prstGeom prst="rect">
            <a:avLst/>
          </a:prstGeom>
          <a:noFill/>
        </p:spPr>
        <p:txBody>
          <a:bodyPr wrap="square" anchor="t">
            <a:spAutoFit/>
          </a:bodyPr>
          <a:lstStyle/>
          <a:p>
            <a:pPr algn="l"/>
            <a:r>
              <a:rPr sz="1300" b="0">
                <a:solidFill>
                  <a:srgbClr val="5C6978"/>
                </a:solidFill>
                <a:latin typeface="Aptos"/>
              </a:rPr>
              <a:t>XP  →  Vista  →  7  →  8  →  8.1  →  10  →  11</a:t>
            </a:r>
          </a:p>
        </p:txBody>
      </p:sp>
      <p:sp>
        <p:nvSpPr>
          <p:cNvPr id="50" name="TextBox 49"/>
          <p:cNvSpPr txBox="1"/>
          <p:nvPr/>
        </p:nvSpPr>
        <p:spPr>
          <a:xfrm>
            <a:off x="6199632" y="4919472"/>
            <a:ext cx="5029200" cy="292608"/>
          </a:xfrm>
          <a:prstGeom prst="rect">
            <a:avLst/>
          </a:prstGeom>
          <a:noFill/>
        </p:spPr>
        <p:txBody>
          <a:bodyPr wrap="square" anchor="t">
            <a:spAutoFit/>
          </a:bodyPr>
          <a:lstStyle/>
          <a:p>
            <a:pPr algn="l"/>
            <a:r>
              <a:rPr sz="1100" b="1">
                <a:solidFill>
                  <a:srgbClr val="1C2530"/>
                </a:solidFill>
                <a:latin typeface="Aptos"/>
              </a:rPr>
              <a:t>Different Linux families • Different Windows generations</a:t>
            </a:r>
          </a:p>
        </p:txBody>
      </p:sp>
      <p:sp>
        <p:nvSpPr>
          <p:cNvPr id="51" name="Rectangle 50"/>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03  /  11</a:t>
            </a:r>
          </a:p>
        </p:txBody>
      </p:sp>
    </p:spTree>
  </p:cSld>
  <p:transition spd="med">
    <p:wipe dir="l"/>
  </p:transition>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03</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Ease of Use</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Familiarity matters more than ideology.</a:t>
            </a:r>
          </a:p>
        </p:txBody>
      </p:sp>
      <p:sp>
        <p:nvSpPr>
          <p:cNvPr id="5" name="Rounded Rectangle 4"/>
          <p:cNvSpPr/>
          <p:nvPr/>
        </p:nvSpPr>
        <p:spPr>
          <a:xfrm>
            <a:off x="658368" y="1783080"/>
            <a:ext cx="3127248" cy="3977639"/>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83080"/>
            <a:ext cx="54864" cy="3977639"/>
          </a:xfrm>
          <a:prstGeom prst="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in 11.png"/>
          <p:cNvPicPr>
            <a:picLocks noChangeAspect="1"/>
          </p:cNvPicPr>
          <p:nvPr/>
        </p:nvPicPr>
        <p:blipFill>
          <a:blip r:embed="rId2"/>
          <a:srcRect t="1187" b="1187"/>
          <a:stretch>
            <a:fillRect/>
          </a:stretch>
        </p:blipFill>
        <p:spPr>
          <a:xfrm>
            <a:off x="918650" y="2084831"/>
            <a:ext cx="2606683" cy="1051560"/>
          </a:xfrm>
          <a:prstGeom prst="rect">
            <a:avLst/>
          </a:prstGeom>
        </p:spPr>
      </p:pic>
      <p:sp>
        <p:nvSpPr>
          <p:cNvPr id="8" name="TextBox 7"/>
          <p:cNvSpPr txBox="1"/>
          <p:nvPr/>
        </p:nvSpPr>
        <p:spPr>
          <a:xfrm>
            <a:off x="886968" y="3364992"/>
            <a:ext cx="2651760" cy="274320"/>
          </a:xfrm>
          <a:prstGeom prst="rect">
            <a:avLst/>
          </a:prstGeom>
          <a:noFill/>
        </p:spPr>
        <p:txBody>
          <a:bodyPr wrap="square" anchor="t">
            <a:spAutoFit/>
          </a:bodyPr>
          <a:lstStyle/>
          <a:p>
            <a:pPr algn="l"/>
            <a:r>
              <a:rPr sz="1600" b="1">
                <a:solidFill>
                  <a:srgbClr val="0070F3"/>
                </a:solidFill>
                <a:latin typeface="Aptos"/>
              </a:rPr>
              <a:t>WINDOWS</a:t>
            </a:r>
          </a:p>
        </p:txBody>
      </p:sp>
      <p:sp>
        <p:nvSpPr>
          <p:cNvPr id="9" name="TextBox 8"/>
          <p:cNvSpPr txBox="1"/>
          <p:nvPr/>
        </p:nvSpPr>
        <p:spPr>
          <a:xfrm>
            <a:off x="886968" y="3822191"/>
            <a:ext cx="2651760" cy="1051560"/>
          </a:xfrm>
          <a:prstGeom prst="rect">
            <a:avLst/>
          </a:prstGeom>
          <a:noFill/>
        </p:spPr>
        <p:txBody>
          <a:bodyPr wrap="square" anchor="t">
            <a:spAutoFit/>
          </a:bodyPr>
          <a:lstStyle/>
          <a:p>
            <a:pPr algn="l"/>
            <a:r>
              <a:rPr sz="1300" b="0">
                <a:solidFill>
                  <a:srgbClr val="1C2530"/>
                </a:solidFill>
                <a:latin typeface="Aptos"/>
              </a:rPr>
              <a:t>Familiar interface
Start menu • taskbar • broad hardware support</a:t>
            </a:r>
          </a:p>
        </p:txBody>
      </p:sp>
      <p:sp>
        <p:nvSpPr>
          <p:cNvPr id="10" name="Rounded Rectangle 9"/>
          <p:cNvSpPr/>
          <p:nvPr/>
        </p:nvSpPr>
        <p:spPr>
          <a:xfrm>
            <a:off x="4041648" y="1783080"/>
            <a:ext cx="3127248" cy="3977639"/>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41648" y="1783080"/>
            <a:ext cx="54864" cy="3977639"/>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anjaro.png"/>
          <p:cNvPicPr>
            <a:picLocks noChangeAspect="1"/>
          </p:cNvPicPr>
          <p:nvPr/>
        </p:nvPicPr>
        <p:blipFill>
          <a:blip r:embed="rId3"/>
          <a:srcRect l="20667" r="20667"/>
          <a:stretch>
            <a:fillRect/>
          </a:stretch>
        </p:blipFill>
        <p:spPr>
          <a:xfrm>
            <a:off x="4270248" y="2302158"/>
            <a:ext cx="2670048" cy="616906"/>
          </a:xfrm>
          <a:prstGeom prst="rect">
            <a:avLst/>
          </a:prstGeom>
        </p:spPr>
      </p:pic>
      <p:sp>
        <p:nvSpPr>
          <p:cNvPr id="13" name="TextBox 12"/>
          <p:cNvSpPr txBox="1"/>
          <p:nvPr/>
        </p:nvSpPr>
        <p:spPr>
          <a:xfrm>
            <a:off x="4270248" y="3364992"/>
            <a:ext cx="2651760" cy="274320"/>
          </a:xfrm>
          <a:prstGeom prst="rect">
            <a:avLst/>
          </a:prstGeom>
          <a:noFill/>
        </p:spPr>
        <p:txBody>
          <a:bodyPr wrap="square" anchor="t">
            <a:spAutoFit/>
          </a:bodyPr>
          <a:lstStyle/>
          <a:p>
            <a:pPr algn="l"/>
            <a:r>
              <a:rPr sz="1600" b="1">
                <a:solidFill>
                  <a:srgbClr val="EF692A"/>
                </a:solidFill>
                <a:latin typeface="Aptos"/>
              </a:rPr>
              <a:t>LINUX</a:t>
            </a:r>
          </a:p>
        </p:txBody>
      </p:sp>
      <p:sp>
        <p:nvSpPr>
          <p:cNvPr id="14" name="TextBox 13"/>
          <p:cNvSpPr txBox="1"/>
          <p:nvPr/>
        </p:nvSpPr>
        <p:spPr>
          <a:xfrm>
            <a:off x="4270248" y="3822191"/>
            <a:ext cx="2651760" cy="1051560"/>
          </a:xfrm>
          <a:prstGeom prst="rect">
            <a:avLst/>
          </a:prstGeom>
          <a:noFill/>
        </p:spPr>
        <p:txBody>
          <a:bodyPr wrap="square" anchor="t">
            <a:spAutoFit/>
          </a:bodyPr>
          <a:lstStyle/>
          <a:p>
            <a:pPr algn="l"/>
            <a:r>
              <a:rPr sz="1300" b="0">
                <a:solidFill>
                  <a:srgbClr val="1C2530"/>
                </a:solidFill>
                <a:latin typeface="Aptos"/>
              </a:rPr>
              <a:t>Ubuntu / Mint can feel simple
More choices mean more learning</a:t>
            </a:r>
          </a:p>
        </p:txBody>
      </p:sp>
      <p:sp>
        <p:nvSpPr>
          <p:cNvPr id="15" name="Rounded Rectangle 14"/>
          <p:cNvSpPr/>
          <p:nvPr/>
        </p:nvSpPr>
        <p:spPr>
          <a:xfrm>
            <a:off x="7424927" y="1783080"/>
            <a:ext cx="3127248" cy="3977639"/>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24927" y="1783080"/>
            <a:ext cx="54864" cy="3977639"/>
          </a:xfrm>
          <a:prstGeom prst="rect">
            <a:avLst/>
          </a:prstGeom>
          <a:solidFill>
            <a:srgbClr val="121E30"/>
          </a:solidFill>
          <a:ln>
            <a:solidFill>
              <a:srgbClr val="121E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indows 7.png"/>
          <p:cNvPicPr>
            <a:picLocks noChangeAspect="1"/>
          </p:cNvPicPr>
          <p:nvPr/>
        </p:nvPicPr>
        <p:blipFill>
          <a:blip r:embed="rId4"/>
          <a:srcRect t="18747" b="18747"/>
          <a:stretch>
            <a:fillRect/>
          </a:stretch>
        </p:blipFill>
        <p:spPr>
          <a:xfrm>
            <a:off x="8154083" y="2084831"/>
            <a:ext cx="1668935" cy="1051560"/>
          </a:xfrm>
          <a:prstGeom prst="rect">
            <a:avLst/>
          </a:prstGeom>
        </p:spPr>
      </p:pic>
      <p:sp>
        <p:nvSpPr>
          <p:cNvPr id="18" name="TextBox 17"/>
          <p:cNvSpPr txBox="1"/>
          <p:nvPr/>
        </p:nvSpPr>
        <p:spPr>
          <a:xfrm>
            <a:off x="7653527" y="3364992"/>
            <a:ext cx="2651760" cy="274320"/>
          </a:xfrm>
          <a:prstGeom prst="rect">
            <a:avLst/>
          </a:prstGeom>
          <a:noFill/>
        </p:spPr>
        <p:txBody>
          <a:bodyPr wrap="square" anchor="t">
            <a:spAutoFit/>
          </a:bodyPr>
          <a:lstStyle/>
          <a:p>
            <a:pPr algn="l"/>
            <a:r>
              <a:rPr sz="1600" b="1">
                <a:solidFill>
                  <a:srgbClr val="121E30"/>
                </a:solidFill>
                <a:latin typeface="Aptos"/>
              </a:rPr>
              <a:t>VERDICT</a:t>
            </a:r>
          </a:p>
        </p:txBody>
      </p:sp>
      <p:sp>
        <p:nvSpPr>
          <p:cNvPr id="19" name="TextBox 18"/>
          <p:cNvSpPr txBox="1"/>
          <p:nvPr/>
        </p:nvSpPr>
        <p:spPr>
          <a:xfrm>
            <a:off x="7653527" y="3822191"/>
            <a:ext cx="2651760" cy="1051560"/>
          </a:xfrm>
          <a:prstGeom prst="rect">
            <a:avLst/>
          </a:prstGeom>
          <a:noFill/>
        </p:spPr>
        <p:txBody>
          <a:bodyPr wrap="square" anchor="t">
            <a:spAutoFit/>
          </a:bodyPr>
          <a:lstStyle/>
          <a:p>
            <a:pPr algn="l"/>
            <a:r>
              <a:rPr sz="1300" b="0">
                <a:solidFill>
                  <a:srgbClr val="1C2530"/>
                </a:solidFill>
                <a:latin typeface="Aptos"/>
              </a:rPr>
              <a:t>Windows usually feels easier
for first-time users</a:t>
            </a:r>
          </a:p>
        </p:txBody>
      </p:sp>
      <p:sp>
        <p:nvSpPr>
          <p:cNvPr id="20" name="Rectangle 19"/>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04  /  11</a:t>
            </a:r>
          </a:p>
        </p:txBody>
      </p:sp>
    </p:spTree>
  </p:cSld>
  <p:transition spd="med">
    <p:fade/>
  </p:transition>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04</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Performance</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Resource use depends on the system, hardware and workload.</a:t>
            </a:r>
          </a:p>
        </p:txBody>
      </p:sp>
      <p:sp>
        <p:nvSpPr>
          <p:cNvPr id="5" name="Rounded Rectangle 4"/>
          <p:cNvSpPr/>
          <p:nvPr/>
        </p:nvSpPr>
        <p:spPr>
          <a:xfrm>
            <a:off x="658368" y="1783080"/>
            <a:ext cx="3127248" cy="370332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83080"/>
            <a:ext cx="54864" cy="3703320"/>
          </a:xfrm>
          <a:prstGeom prst="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indows 10.png"/>
          <p:cNvPicPr>
            <a:picLocks noChangeAspect="1"/>
          </p:cNvPicPr>
          <p:nvPr/>
        </p:nvPicPr>
        <p:blipFill>
          <a:blip r:embed="rId2"/>
          <a:srcRect t="27740" b="27740"/>
          <a:stretch>
            <a:fillRect/>
          </a:stretch>
        </p:blipFill>
        <p:spPr>
          <a:xfrm>
            <a:off x="1627632" y="2057400"/>
            <a:ext cx="1188720" cy="1188720"/>
          </a:xfrm>
          <a:prstGeom prst="rect">
            <a:avLst/>
          </a:prstGeom>
        </p:spPr>
      </p:pic>
      <p:sp>
        <p:nvSpPr>
          <p:cNvPr id="8" name="TextBox 7"/>
          <p:cNvSpPr txBox="1"/>
          <p:nvPr/>
        </p:nvSpPr>
        <p:spPr>
          <a:xfrm>
            <a:off x="886968" y="3429000"/>
            <a:ext cx="2651760" cy="274320"/>
          </a:xfrm>
          <a:prstGeom prst="rect">
            <a:avLst/>
          </a:prstGeom>
          <a:noFill/>
        </p:spPr>
        <p:txBody>
          <a:bodyPr wrap="square" anchor="t">
            <a:spAutoFit/>
          </a:bodyPr>
          <a:lstStyle/>
          <a:p>
            <a:pPr algn="l"/>
            <a:r>
              <a:rPr sz="1500" b="1">
                <a:solidFill>
                  <a:srgbClr val="0070F3"/>
                </a:solidFill>
                <a:latin typeface="Aptos"/>
              </a:rPr>
              <a:t>WINDOWS</a:t>
            </a:r>
          </a:p>
        </p:txBody>
      </p:sp>
      <p:sp>
        <p:nvSpPr>
          <p:cNvPr id="9" name="TextBox 8"/>
          <p:cNvSpPr txBox="1"/>
          <p:nvPr/>
        </p:nvSpPr>
        <p:spPr>
          <a:xfrm>
            <a:off x="886968" y="3886200"/>
            <a:ext cx="2651760" cy="960120"/>
          </a:xfrm>
          <a:prstGeom prst="rect">
            <a:avLst/>
          </a:prstGeom>
          <a:noFill/>
        </p:spPr>
        <p:txBody>
          <a:bodyPr wrap="square" anchor="t">
            <a:spAutoFit/>
          </a:bodyPr>
          <a:lstStyle/>
          <a:p>
            <a:pPr algn="l"/>
            <a:r>
              <a:rPr sz="1300" b="0">
                <a:solidFill>
                  <a:srgbClr val="1C2530"/>
                </a:solidFill>
                <a:latin typeface="Aptos"/>
              </a:rPr>
              <a:t>More background services
Strong driver and app ecosystem</a:t>
            </a:r>
          </a:p>
        </p:txBody>
      </p:sp>
      <p:sp>
        <p:nvSpPr>
          <p:cNvPr id="10" name="Rounded Rectangle 9"/>
          <p:cNvSpPr/>
          <p:nvPr/>
        </p:nvSpPr>
        <p:spPr>
          <a:xfrm>
            <a:off x="4087368" y="1783080"/>
            <a:ext cx="3127248" cy="370332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87368" y="1783080"/>
            <a:ext cx="54864" cy="3703320"/>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lmaLinux.png"/>
          <p:cNvPicPr>
            <a:picLocks noChangeAspect="1"/>
          </p:cNvPicPr>
          <p:nvPr/>
        </p:nvPicPr>
        <p:blipFill>
          <a:blip r:embed="rId3"/>
          <a:srcRect t="27740" b="27740"/>
          <a:stretch>
            <a:fillRect/>
          </a:stretch>
        </p:blipFill>
        <p:spPr>
          <a:xfrm>
            <a:off x="5056632" y="2057400"/>
            <a:ext cx="1188720" cy="1188720"/>
          </a:xfrm>
          <a:prstGeom prst="rect">
            <a:avLst/>
          </a:prstGeom>
        </p:spPr>
      </p:pic>
      <p:sp>
        <p:nvSpPr>
          <p:cNvPr id="13" name="TextBox 12"/>
          <p:cNvSpPr txBox="1"/>
          <p:nvPr/>
        </p:nvSpPr>
        <p:spPr>
          <a:xfrm>
            <a:off x="4315968" y="3429000"/>
            <a:ext cx="2651760" cy="274320"/>
          </a:xfrm>
          <a:prstGeom prst="rect">
            <a:avLst/>
          </a:prstGeom>
          <a:noFill/>
        </p:spPr>
        <p:txBody>
          <a:bodyPr wrap="square" anchor="t">
            <a:spAutoFit/>
          </a:bodyPr>
          <a:lstStyle/>
          <a:p>
            <a:pPr algn="l"/>
            <a:r>
              <a:rPr sz="1500" b="1">
                <a:solidFill>
                  <a:srgbClr val="EF692A"/>
                </a:solidFill>
                <a:latin typeface="Aptos"/>
              </a:rPr>
              <a:t>LINUX</a:t>
            </a:r>
          </a:p>
        </p:txBody>
      </p:sp>
      <p:sp>
        <p:nvSpPr>
          <p:cNvPr id="14" name="TextBox 13"/>
          <p:cNvSpPr txBox="1"/>
          <p:nvPr/>
        </p:nvSpPr>
        <p:spPr>
          <a:xfrm>
            <a:off x="4315968" y="3886200"/>
            <a:ext cx="2651760" cy="960120"/>
          </a:xfrm>
          <a:prstGeom prst="rect">
            <a:avLst/>
          </a:prstGeom>
          <a:noFill/>
        </p:spPr>
        <p:txBody>
          <a:bodyPr wrap="square" anchor="t">
            <a:spAutoFit/>
          </a:bodyPr>
          <a:lstStyle/>
          <a:p>
            <a:pPr algn="l"/>
            <a:r>
              <a:rPr sz="1300" b="0">
                <a:solidFill>
                  <a:srgbClr val="1C2530"/>
                </a:solidFill>
                <a:latin typeface="Aptos"/>
              </a:rPr>
              <a:t>Often lighter with a lean setup
Excellent on older hardware</a:t>
            </a:r>
          </a:p>
        </p:txBody>
      </p:sp>
      <p:sp>
        <p:nvSpPr>
          <p:cNvPr id="15" name="Rounded Rectangle 14"/>
          <p:cNvSpPr/>
          <p:nvPr/>
        </p:nvSpPr>
        <p:spPr>
          <a:xfrm>
            <a:off x="7516368" y="1783080"/>
            <a:ext cx="3127248" cy="370332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516368" y="1783080"/>
            <a:ext cx="54864" cy="3703320"/>
          </a:xfrm>
          <a:prstGeom prst="rect">
            <a:avLst/>
          </a:prstGeom>
          <a:solidFill>
            <a:srgbClr val="121E30"/>
          </a:solidFill>
          <a:ln>
            <a:solidFill>
              <a:srgbClr val="121E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nux.jpg"/>
          <p:cNvPicPr>
            <a:picLocks noChangeAspect="1"/>
          </p:cNvPicPr>
          <p:nvPr/>
        </p:nvPicPr>
        <p:blipFill>
          <a:blip r:embed="rId4"/>
          <a:srcRect t="10361" b="10361"/>
          <a:stretch>
            <a:fillRect/>
          </a:stretch>
        </p:blipFill>
        <p:spPr>
          <a:xfrm>
            <a:off x="8021602" y="2057400"/>
            <a:ext cx="2116780" cy="1188720"/>
          </a:xfrm>
          <a:prstGeom prst="rect">
            <a:avLst/>
          </a:prstGeom>
        </p:spPr>
      </p:pic>
      <p:sp>
        <p:nvSpPr>
          <p:cNvPr id="18" name="TextBox 17"/>
          <p:cNvSpPr txBox="1"/>
          <p:nvPr/>
        </p:nvSpPr>
        <p:spPr>
          <a:xfrm>
            <a:off x="7744968" y="3429000"/>
            <a:ext cx="2651760" cy="274320"/>
          </a:xfrm>
          <a:prstGeom prst="rect">
            <a:avLst/>
          </a:prstGeom>
          <a:noFill/>
        </p:spPr>
        <p:txBody>
          <a:bodyPr wrap="square" anchor="t">
            <a:spAutoFit/>
          </a:bodyPr>
          <a:lstStyle/>
          <a:p>
            <a:pPr algn="l"/>
            <a:r>
              <a:rPr sz="1500" b="1">
                <a:solidFill>
                  <a:srgbClr val="121E30"/>
                </a:solidFill>
                <a:latin typeface="Aptos"/>
              </a:rPr>
              <a:t>THE REALITY</a:t>
            </a:r>
          </a:p>
        </p:txBody>
      </p:sp>
      <p:sp>
        <p:nvSpPr>
          <p:cNvPr id="19" name="TextBox 18"/>
          <p:cNvSpPr txBox="1"/>
          <p:nvPr/>
        </p:nvSpPr>
        <p:spPr>
          <a:xfrm>
            <a:off x="7744968" y="3886200"/>
            <a:ext cx="2651760" cy="960120"/>
          </a:xfrm>
          <a:prstGeom prst="rect">
            <a:avLst/>
          </a:prstGeom>
          <a:noFill/>
        </p:spPr>
        <p:txBody>
          <a:bodyPr wrap="square" anchor="t">
            <a:spAutoFit/>
          </a:bodyPr>
          <a:lstStyle/>
          <a:p>
            <a:pPr algn="l"/>
            <a:r>
              <a:rPr sz="1300" b="0">
                <a:solidFill>
                  <a:srgbClr val="1C2530"/>
                </a:solidFill>
                <a:latin typeface="Aptos"/>
              </a:rPr>
              <a:t>Hardware + distribution + workload
all change the result</a:t>
            </a:r>
          </a:p>
        </p:txBody>
      </p:sp>
      <p:sp>
        <p:nvSpPr>
          <p:cNvPr id="20" name="Rounded Rectangle 19"/>
          <p:cNvSpPr/>
          <p:nvPr/>
        </p:nvSpPr>
        <p:spPr>
          <a:xfrm>
            <a:off x="3154680" y="5715000"/>
            <a:ext cx="5897880" cy="292608"/>
          </a:xfrm>
          <a:prstGeom prst="round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154680" y="5728716"/>
            <a:ext cx="5897880" cy="228600"/>
          </a:xfrm>
          <a:prstGeom prst="rect">
            <a:avLst/>
          </a:prstGeom>
          <a:noFill/>
        </p:spPr>
        <p:txBody>
          <a:bodyPr wrap="square" anchor="t">
            <a:spAutoFit/>
          </a:bodyPr>
          <a:lstStyle/>
          <a:p>
            <a:pPr algn="ctr"/>
            <a:r>
              <a:rPr sz="900" b="1">
                <a:solidFill>
                  <a:srgbClr val="FFFFFF"/>
                </a:solidFill>
                <a:latin typeface="Aptos"/>
              </a:rPr>
              <a:t>OLDER HARDWARE  ←  LINUX CAN BE ADVANTAGEOUS</a:t>
            </a:r>
          </a:p>
        </p:txBody>
      </p:sp>
      <p:sp>
        <p:nvSpPr>
          <p:cNvPr id="22" name="Rectangle 21"/>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05  /  11</a:t>
            </a:r>
          </a:p>
        </p:txBody>
      </p:sp>
    </p:spTree>
  </p:cSld>
  <p:transition spd="med">
    <p:push dir="l"/>
  </p:transition>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05</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Security</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Both can be secure; user behavior and updates matter.</a:t>
            </a:r>
          </a:p>
        </p:txBody>
      </p:sp>
      <p:sp>
        <p:nvSpPr>
          <p:cNvPr id="5" name="Rounded Rectangle 4"/>
          <p:cNvSpPr/>
          <p:nvPr/>
        </p:nvSpPr>
        <p:spPr>
          <a:xfrm>
            <a:off x="658368" y="1783080"/>
            <a:ext cx="3246120" cy="379476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83080"/>
            <a:ext cx="54864" cy="3794760"/>
          </a:xfrm>
          <a:prstGeom prst="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in 11.png"/>
          <p:cNvPicPr>
            <a:picLocks noChangeAspect="1"/>
          </p:cNvPicPr>
          <p:nvPr/>
        </p:nvPicPr>
        <p:blipFill>
          <a:blip r:embed="rId2"/>
          <a:srcRect t="423" b="423"/>
          <a:stretch>
            <a:fillRect/>
          </a:stretch>
        </p:blipFill>
        <p:spPr>
          <a:xfrm>
            <a:off x="944086" y="2057400"/>
            <a:ext cx="2674684" cy="1078992"/>
          </a:xfrm>
          <a:prstGeom prst="rect">
            <a:avLst/>
          </a:prstGeom>
        </p:spPr>
      </p:pic>
      <p:sp>
        <p:nvSpPr>
          <p:cNvPr id="8" name="TextBox 7"/>
          <p:cNvSpPr txBox="1"/>
          <p:nvPr/>
        </p:nvSpPr>
        <p:spPr>
          <a:xfrm>
            <a:off x="932688" y="3401568"/>
            <a:ext cx="2651760" cy="274320"/>
          </a:xfrm>
          <a:prstGeom prst="rect">
            <a:avLst/>
          </a:prstGeom>
          <a:noFill/>
        </p:spPr>
        <p:txBody>
          <a:bodyPr wrap="square" anchor="t">
            <a:spAutoFit/>
          </a:bodyPr>
          <a:lstStyle/>
          <a:p>
            <a:pPr algn="l"/>
            <a:r>
              <a:rPr sz="1600" b="1">
                <a:solidFill>
                  <a:srgbClr val="0070F3"/>
                </a:solidFill>
                <a:latin typeface="Aptos"/>
              </a:rPr>
              <a:t>WINDOWS</a:t>
            </a:r>
          </a:p>
        </p:txBody>
      </p:sp>
      <p:sp>
        <p:nvSpPr>
          <p:cNvPr id="9" name="TextBox 8"/>
          <p:cNvSpPr txBox="1"/>
          <p:nvPr/>
        </p:nvSpPr>
        <p:spPr>
          <a:xfrm>
            <a:off x="932688" y="3886200"/>
            <a:ext cx="2606040" cy="1143000"/>
          </a:xfrm>
          <a:prstGeom prst="rect">
            <a:avLst/>
          </a:prstGeom>
          <a:noFill/>
        </p:spPr>
        <p:txBody>
          <a:bodyPr wrap="square" anchor="t">
            <a:spAutoFit/>
          </a:bodyPr>
          <a:lstStyle/>
          <a:p>
            <a:pPr algn="l"/>
            <a:r>
              <a:rPr sz="1300" b="0">
                <a:solidFill>
                  <a:srgbClr val="1C2530"/>
                </a:solidFill>
                <a:latin typeface="Aptos"/>
              </a:rPr>
              <a:t>Common malware target
Built-in security tools
Frequent security updates</a:t>
            </a:r>
          </a:p>
        </p:txBody>
      </p:sp>
      <p:sp>
        <p:nvSpPr>
          <p:cNvPr id="10" name="Rounded Rectangle 9"/>
          <p:cNvSpPr/>
          <p:nvPr/>
        </p:nvSpPr>
        <p:spPr>
          <a:xfrm>
            <a:off x="4160520" y="1783080"/>
            <a:ext cx="3246120" cy="379476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60520" y="1783080"/>
            <a:ext cx="54864" cy="3794760"/>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d Hat Enterprise Linux.png"/>
          <p:cNvPicPr>
            <a:picLocks noChangeAspect="1"/>
          </p:cNvPicPr>
          <p:nvPr/>
        </p:nvPicPr>
        <p:blipFill>
          <a:blip r:embed="rId3"/>
          <a:srcRect t="25144" b="25144"/>
          <a:stretch>
            <a:fillRect/>
          </a:stretch>
        </p:blipFill>
        <p:spPr>
          <a:xfrm>
            <a:off x="5169900" y="2057400"/>
            <a:ext cx="1218216" cy="1078992"/>
          </a:xfrm>
          <a:prstGeom prst="rect">
            <a:avLst/>
          </a:prstGeom>
        </p:spPr>
      </p:pic>
      <p:sp>
        <p:nvSpPr>
          <p:cNvPr id="13" name="TextBox 12"/>
          <p:cNvSpPr txBox="1"/>
          <p:nvPr/>
        </p:nvSpPr>
        <p:spPr>
          <a:xfrm>
            <a:off x="4553712" y="3401568"/>
            <a:ext cx="2651760" cy="274320"/>
          </a:xfrm>
          <a:prstGeom prst="rect">
            <a:avLst/>
          </a:prstGeom>
          <a:noFill/>
        </p:spPr>
        <p:txBody>
          <a:bodyPr wrap="square" anchor="t">
            <a:spAutoFit/>
          </a:bodyPr>
          <a:lstStyle/>
          <a:p>
            <a:pPr algn="l"/>
            <a:r>
              <a:rPr sz="1600" b="1">
                <a:solidFill>
                  <a:srgbClr val="EF692A"/>
                </a:solidFill>
                <a:latin typeface="Aptos"/>
              </a:rPr>
              <a:t>LINUX</a:t>
            </a:r>
          </a:p>
        </p:txBody>
      </p:sp>
      <p:sp>
        <p:nvSpPr>
          <p:cNvPr id="14" name="TextBox 13"/>
          <p:cNvSpPr txBox="1"/>
          <p:nvPr/>
        </p:nvSpPr>
        <p:spPr>
          <a:xfrm>
            <a:off x="4553712" y="3886200"/>
            <a:ext cx="2606040" cy="1143000"/>
          </a:xfrm>
          <a:prstGeom prst="rect">
            <a:avLst/>
          </a:prstGeom>
          <a:noFill/>
        </p:spPr>
        <p:txBody>
          <a:bodyPr wrap="square" anchor="t">
            <a:spAutoFit/>
          </a:bodyPr>
          <a:lstStyle/>
          <a:p>
            <a:pPr algn="l"/>
            <a:r>
              <a:rPr sz="1300" b="0">
                <a:solidFill>
                  <a:srgbClr val="1C2530"/>
                </a:solidFill>
                <a:latin typeface="Aptos"/>
              </a:rPr>
              <a:t>Permissions
Package management
Strong administrator control</a:t>
            </a:r>
          </a:p>
        </p:txBody>
      </p:sp>
      <p:sp>
        <p:nvSpPr>
          <p:cNvPr id="15" name="Rounded Rectangle 14"/>
          <p:cNvSpPr/>
          <p:nvPr/>
        </p:nvSpPr>
        <p:spPr>
          <a:xfrm>
            <a:off x="7662672" y="1783080"/>
            <a:ext cx="3657600" cy="379476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662672" y="1783080"/>
            <a:ext cx="54864" cy="3794760"/>
          </a:xfrm>
          <a:prstGeom prst="rect">
            <a:avLst/>
          </a:prstGeom>
          <a:solidFill>
            <a:srgbClr val="121E30"/>
          </a:solidFill>
          <a:ln>
            <a:solidFill>
              <a:srgbClr val="121E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973568" y="2121408"/>
            <a:ext cx="2926080" cy="274320"/>
          </a:xfrm>
          <a:prstGeom prst="rect">
            <a:avLst/>
          </a:prstGeom>
          <a:noFill/>
        </p:spPr>
        <p:txBody>
          <a:bodyPr wrap="square" anchor="t">
            <a:spAutoFit/>
          </a:bodyPr>
          <a:lstStyle/>
          <a:p>
            <a:pPr algn="l"/>
            <a:r>
              <a:rPr sz="1600" b="1">
                <a:solidFill>
                  <a:srgbClr val="121E30"/>
                </a:solidFill>
                <a:latin typeface="Aptos"/>
              </a:rPr>
              <a:t>NO PERFECT OS</a:t>
            </a:r>
          </a:p>
        </p:txBody>
      </p:sp>
      <p:sp>
        <p:nvSpPr>
          <p:cNvPr id="18" name="TextBox 17"/>
          <p:cNvSpPr txBox="1"/>
          <p:nvPr/>
        </p:nvSpPr>
        <p:spPr>
          <a:xfrm>
            <a:off x="7973568" y="2743200"/>
            <a:ext cx="2926080" cy="2057400"/>
          </a:xfrm>
          <a:prstGeom prst="rect">
            <a:avLst/>
          </a:prstGeom>
          <a:noFill/>
        </p:spPr>
        <p:txBody>
          <a:bodyPr wrap="square" anchor="t">
            <a:spAutoFit/>
          </a:bodyPr>
          <a:lstStyle/>
          <a:p>
            <a:pPr algn="ctr"/>
            <a:r>
              <a:rPr sz="2000" b="1">
                <a:solidFill>
                  <a:srgbClr val="1C2530"/>
                </a:solidFill>
                <a:latin typeface="Aptos"/>
              </a:rPr>
              <a:t>Secure setup
+
Updates
+
Good habits</a:t>
            </a:r>
          </a:p>
        </p:txBody>
      </p:sp>
      <p:sp>
        <p:nvSpPr>
          <p:cNvPr id="19" name="Rounded Rectangle 18"/>
          <p:cNvSpPr/>
          <p:nvPr/>
        </p:nvSpPr>
        <p:spPr>
          <a:xfrm>
            <a:off x="8275320" y="5102352"/>
            <a:ext cx="2331720" cy="292608"/>
          </a:xfrm>
          <a:prstGeom prst="roundRect">
            <a:avLst/>
          </a:prstGeom>
          <a:solidFill>
            <a:srgbClr val="1E965F"/>
          </a:solidFill>
          <a:ln>
            <a:solidFill>
              <a:srgbClr val="1E965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5116068"/>
            <a:ext cx="2331720" cy="228600"/>
          </a:xfrm>
          <a:prstGeom prst="rect">
            <a:avLst/>
          </a:prstGeom>
          <a:noFill/>
        </p:spPr>
        <p:txBody>
          <a:bodyPr wrap="square" anchor="t">
            <a:spAutoFit/>
          </a:bodyPr>
          <a:lstStyle/>
          <a:p>
            <a:pPr algn="ctr"/>
            <a:r>
              <a:rPr sz="900" b="1">
                <a:solidFill>
                  <a:srgbClr val="FFFFFF"/>
                </a:solidFill>
                <a:latin typeface="Aptos"/>
              </a:rPr>
              <a:t>SECURITY IS A PROCESS</a:t>
            </a:r>
          </a:p>
        </p:txBody>
      </p:sp>
      <p:sp>
        <p:nvSpPr>
          <p:cNvPr id="21" name="Rectangle 20"/>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06  /  11</a:t>
            </a:r>
          </a:p>
        </p:txBody>
      </p:sp>
    </p:spTree>
  </p:cSld>
  <p:transition spd="med">
    <p:fade/>
  </p:transition>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06</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Software and Gaming</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Windows leads on compatibility; Linux keeps improving.</a:t>
            </a:r>
          </a:p>
        </p:txBody>
      </p:sp>
      <p:sp>
        <p:nvSpPr>
          <p:cNvPr id="5" name="Rounded Rectangle 4"/>
          <p:cNvSpPr/>
          <p:nvPr/>
        </p:nvSpPr>
        <p:spPr>
          <a:xfrm>
            <a:off x="658368" y="1783080"/>
            <a:ext cx="3337560" cy="388620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83080"/>
            <a:ext cx="54864" cy="3886200"/>
          </a:xfrm>
          <a:prstGeom prst="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indows 7.png"/>
          <p:cNvPicPr>
            <a:picLocks noChangeAspect="1"/>
          </p:cNvPicPr>
          <p:nvPr/>
        </p:nvPicPr>
        <p:blipFill>
          <a:blip r:embed="rId2"/>
          <a:srcRect t="16506" b="16506"/>
          <a:stretch>
            <a:fillRect/>
          </a:stretch>
        </p:blipFill>
        <p:spPr>
          <a:xfrm>
            <a:off x="1379264" y="2057400"/>
            <a:ext cx="1886623" cy="1188720"/>
          </a:xfrm>
          <a:prstGeom prst="rect">
            <a:avLst/>
          </a:prstGeom>
        </p:spPr>
      </p:pic>
      <p:sp>
        <p:nvSpPr>
          <p:cNvPr id="8" name="TextBox 7"/>
          <p:cNvSpPr txBox="1"/>
          <p:nvPr/>
        </p:nvSpPr>
        <p:spPr>
          <a:xfrm>
            <a:off x="914400" y="3456432"/>
            <a:ext cx="2743200" cy="274320"/>
          </a:xfrm>
          <a:prstGeom prst="rect">
            <a:avLst/>
          </a:prstGeom>
          <a:noFill/>
        </p:spPr>
        <p:txBody>
          <a:bodyPr wrap="square" anchor="t">
            <a:spAutoFit/>
          </a:bodyPr>
          <a:lstStyle/>
          <a:p>
            <a:pPr algn="l"/>
            <a:r>
              <a:rPr sz="1600" b="1">
                <a:solidFill>
                  <a:srgbClr val="0070F3"/>
                </a:solidFill>
                <a:latin typeface="Aptos"/>
              </a:rPr>
              <a:t>WINDOWS</a:t>
            </a:r>
          </a:p>
        </p:txBody>
      </p:sp>
      <p:sp>
        <p:nvSpPr>
          <p:cNvPr id="9" name="TextBox 8"/>
          <p:cNvSpPr txBox="1"/>
          <p:nvPr/>
        </p:nvSpPr>
        <p:spPr>
          <a:xfrm>
            <a:off x="914400" y="3913632"/>
            <a:ext cx="2788920" cy="1143000"/>
          </a:xfrm>
          <a:prstGeom prst="rect">
            <a:avLst/>
          </a:prstGeom>
          <a:noFill/>
        </p:spPr>
        <p:txBody>
          <a:bodyPr wrap="square" anchor="t">
            <a:spAutoFit/>
          </a:bodyPr>
          <a:lstStyle/>
          <a:p>
            <a:pPr algn="l"/>
            <a:r>
              <a:rPr sz="1300" b="0">
                <a:solidFill>
                  <a:srgbClr val="1C2530"/>
                </a:solidFill>
                <a:latin typeface="Aptos"/>
              </a:rPr>
              <a:t>Broad software compatibility
Strong gaming support
Many native releases</a:t>
            </a:r>
          </a:p>
        </p:txBody>
      </p:sp>
      <p:sp>
        <p:nvSpPr>
          <p:cNvPr id="10" name="Rounded Rectangle 9"/>
          <p:cNvSpPr/>
          <p:nvPr/>
        </p:nvSpPr>
        <p:spPr>
          <a:xfrm>
            <a:off x="4206240" y="1783080"/>
            <a:ext cx="3337560" cy="388620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206240" y="1783080"/>
            <a:ext cx="54864" cy="3886200"/>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linux-fedora.png"/>
          <p:cNvPicPr>
            <a:picLocks noChangeAspect="1"/>
          </p:cNvPicPr>
          <p:nvPr/>
        </p:nvPicPr>
        <p:blipFill>
          <a:blip r:embed="rId3"/>
          <a:srcRect t="28689" b="28689"/>
          <a:stretch>
            <a:fillRect/>
          </a:stretch>
        </p:blipFill>
        <p:spPr>
          <a:xfrm>
            <a:off x="5280660" y="2057400"/>
            <a:ext cx="1188720" cy="1188720"/>
          </a:xfrm>
          <a:prstGeom prst="rect">
            <a:avLst/>
          </a:prstGeom>
        </p:spPr>
      </p:pic>
      <p:sp>
        <p:nvSpPr>
          <p:cNvPr id="13" name="TextBox 12"/>
          <p:cNvSpPr txBox="1"/>
          <p:nvPr/>
        </p:nvSpPr>
        <p:spPr>
          <a:xfrm>
            <a:off x="4480560" y="3456432"/>
            <a:ext cx="2743200" cy="274320"/>
          </a:xfrm>
          <a:prstGeom prst="rect">
            <a:avLst/>
          </a:prstGeom>
          <a:noFill/>
        </p:spPr>
        <p:txBody>
          <a:bodyPr wrap="square" anchor="t">
            <a:spAutoFit/>
          </a:bodyPr>
          <a:lstStyle/>
          <a:p>
            <a:pPr algn="l"/>
            <a:r>
              <a:rPr sz="1600" b="1">
                <a:solidFill>
                  <a:srgbClr val="EF692A"/>
                </a:solidFill>
                <a:latin typeface="Aptos"/>
              </a:rPr>
              <a:t>LINUX</a:t>
            </a:r>
          </a:p>
        </p:txBody>
      </p:sp>
      <p:sp>
        <p:nvSpPr>
          <p:cNvPr id="14" name="TextBox 13"/>
          <p:cNvSpPr txBox="1"/>
          <p:nvPr/>
        </p:nvSpPr>
        <p:spPr>
          <a:xfrm>
            <a:off x="4480560" y="3913632"/>
            <a:ext cx="2788920" cy="1143000"/>
          </a:xfrm>
          <a:prstGeom prst="rect">
            <a:avLst/>
          </a:prstGeom>
          <a:noFill/>
        </p:spPr>
        <p:txBody>
          <a:bodyPr wrap="square" anchor="t">
            <a:spAutoFit/>
          </a:bodyPr>
          <a:lstStyle/>
          <a:p>
            <a:pPr algn="l"/>
            <a:r>
              <a:rPr sz="1300" b="0">
                <a:solidFill>
                  <a:srgbClr val="1C2530"/>
                </a:solidFill>
                <a:latin typeface="Aptos"/>
              </a:rPr>
              <a:t>Steam + Proton
Growing game support
Powerful developer tools</a:t>
            </a:r>
          </a:p>
        </p:txBody>
      </p:sp>
      <p:sp>
        <p:nvSpPr>
          <p:cNvPr id="15" name="Rounded Rectangle 14"/>
          <p:cNvSpPr/>
          <p:nvPr/>
        </p:nvSpPr>
        <p:spPr>
          <a:xfrm>
            <a:off x="7754112" y="1783080"/>
            <a:ext cx="3566160" cy="388620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54112" y="1783080"/>
            <a:ext cx="54864" cy="3886200"/>
          </a:xfrm>
          <a:prstGeom prst="rect">
            <a:avLst/>
          </a:prstGeom>
          <a:solidFill>
            <a:srgbClr val="121E30"/>
          </a:solidFill>
          <a:ln>
            <a:solidFill>
              <a:srgbClr val="121E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046720" y="2121408"/>
            <a:ext cx="2926080" cy="274320"/>
          </a:xfrm>
          <a:prstGeom prst="rect">
            <a:avLst/>
          </a:prstGeom>
          <a:noFill/>
        </p:spPr>
        <p:txBody>
          <a:bodyPr wrap="square" anchor="t">
            <a:spAutoFit/>
          </a:bodyPr>
          <a:lstStyle/>
          <a:p>
            <a:pPr algn="l"/>
            <a:r>
              <a:rPr sz="1600" b="1">
                <a:solidFill>
                  <a:srgbClr val="121E30"/>
                </a:solidFill>
                <a:latin typeface="Aptos"/>
              </a:rPr>
              <a:t>LIMITATIONS</a:t>
            </a:r>
          </a:p>
        </p:txBody>
      </p:sp>
      <p:sp>
        <p:nvSpPr>
          <p:cNvPr id="18" name="TextBox 17"/>
          <p:cNvSpPr txBox="1"/>
          <p:nvPr/>
        </p:nvSpPr>
        <p:spPr>
          <a:xfrm>
            <a:off x="8046720" y="2880360"/>
            <a:ext cx="2788920" cy="1417320"/>
          </a:xfrm>
          <a:prstGeom prst="rect">
            <a:avLst/>
          </a:prstGeom>
          <a:noFill/>
        </p:spPr>
        <p:txBody>
          <a:bodyPr wrap="square" anchor="t">
            <a:spAutoFit/>
          </a:bodyPr>
          <a:lstStyle/>
          <a:p>
            <a:pPr algn="l"/>
            <a:r>
              <a:rPr sz="1500" b="0">
                <a:solidFill>
                  <a:srgbClr val="1C2530"/>
                </a:solidFill>
                <a:latin typeface="Aptos"/>
              </a:rPr>
              <a:t>Some anti-cheat systems
and specialized software
still favor Windows.</a:t>
            </a:r>
          </a:p>
        </p:txBody>
      </p:sp>
      <p:sp>
        <p:nvSpPr>
          <p:cNvPr id="19" name="Rounded Rectangle 18"/>
          <p:cNvSpPr/>
          <p:nvPr/>
        </p:nvSpPr>
        <p:spPr>
          <a:xfrm>
            <a:off x="8229600" y="5102352"/>
            <a:ext cx="2468880" cy="292608"/>
          </a:xfrm>
          <a:prstGeom prst="round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5116068"/>
            <a:ext cx="2468880" cy="228600"/>
          </a:xfrm>
          <a:prstGeom prst="rect">
            <a:avLst/>
          </a:prstGeom>
          <a:noFill/>
        </p:spPr>
        <p:txBody>
          <a:bodyPr wrap="square" anchor="t">
            <a:spAutoFit/>
          </a:bodyPr>
          <a:lstStyle/>
          <a:p>
            <a:pPr algn="ctr"/>
            <a:r>
              <a:rPr sz="900" b="1">
                <a:solidFill>
                  <a:srgbClr val="FFFFFF"/>
                </a:solidFill>
                <a:latin typeface="Aptos"/>
              </a:rPr>
              <a:t>SOFTWARE COMPATIBILITY</a:t>
            </a:r>
          </a:p>
        </p:txBody>
      </p:sp>
      <p:sp>
        <p:nvSpPr>
          <p:cNvPr id="21" name="Rectangle 20"/>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07  /  11</a:t>
            </a:r>
          </a:p>
        </p:txBody>
      </p:sp>
    </p:spTree>
  </p:cSld>
  <p:transition spd="med">
    <p:wipe dir="l"/>
  </p:transition>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07</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Customization</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Linux gives users deeper control over the desktop experience.</a:t>
            </a:r>
          </a:p>
        </p:txBody>
      </p:sp>
      <p:sp>
        <p:nvSpPr>
          <p:cNvPr id="5" name="Rounded Rectangle 4"/>
          <p:cNvSpPr/>
          <p:nvPr/>
        </p:nvSpPr>
        <p:spPr>
          <a:xfrm>
            <a:off x="658368" y="1783080"/>
            <a:ext cx="3154680" cy="388620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83080"/>
            <a:ext cx="54864" cy="3886200"/>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rch Linux.png"/>
          <p:cNvPicPr>
            <a:picLocks noChangeAspect="1"/>
          </p:cNvPicPr>
          <p:nvPr/>
        </p:nvPicPr>
        <p:blipFill>
          <a:blip r:embed="rId2"/>
          <a:srcRect t="24826" b="24826"/>
          <a:stretch>
            <a:fillRect/>
          </a:stretch>
        </p:blipFill>
        <p:spPr>
          <a:xfrm>
            <a:off x="1568196" y="2084831"/>
            <a:ext cx="1325880" cy="1325880"/>
          </a:xfrm>
          <a:prstGeom prst="rect">
            <a:avLst/>
          </a:prstGeom>
        </p:spPr>
      </p:pic>
      <p:sp>
        <p:nvSpPr>
          <p:cNvPr id="8" name="TextBox 7"/>
          <p:cNvSpPr txBox="1"/>
          <p:nvPr/>
        </p:nvSpPr>
        <p:spPr>
          <a:xfrm>
            <a:off x="914400" y="3703320"/>
            <a:ext cx="2560320" cy="274320"/>
          </a:xfrm>
          <a:prstGeom prst="rect">
            <a:avLst/>
          </a:prstGeom>
          <a:noFill/>
        </p:spPr>
        <p:txBody>
          <a:bodyPr wrap="square" anchor="t">
            <a:spAutoFit/>
          </a:bodyPr>
          <a:lstStyle/>
          <a:p>
            <a:pPr algn="l"/>
            <a:r>
              <a:rPr sz="1500" b="1">
                <a:solidFill>
                  <a:srgbClr val="EF692A"/>
                </a:solidFill>
                <a:latin typeface="Aptos"/>
              </a:rPr>
              <a:t>DESKTOP</a:t>
            </a:r>
          </a:p>
        </p:txBody>
      </p:sp>
      <p:sp>
        <p:nvSpPr>
          <p:cNvPr id="9" name="TextBox 8"/>
          <p:cNvSpPr txBox="1"/>
          <p:nvPr/>
        </p:nvSpPr>
        <p:spPr>
          <a:xfrm>
            <a:off x="914400" y="4160520"/>
            <a:ext cx="2514600" cy="685800"/>
          </a:xfrm>
          <a:prstGeom prst="rect">
            <a:avLst/>
          </a:prstGeom>
          <a:noFill/>
        </p:spPr>
        <p:txBody>
          <a:bodyPr wrap="square" anchor="t">
            <a:spAutoFit/>
          </a:bodyPr>
          <a:lstStyle/>
          <a:p>
            <a:pPr algn="l"/>
            <a:r>
              <a:rPr sz="1300" b="0">
                <a:solidFill>
                  <a:srgbClr val="1C2530"/>
                </a:solidFill>
                <a:latin typeface="Aptos"/>
              </a:rPr>
              <a:t>Change the desktop environment
and workflow.</a:t>
            </a:r>
          </a:p>
        </p:txBody>
      </p:sp>
      <p:sp>
        <p:nvSpPr>
          <p:cNvPr id="10" name="Rounded Rectangle 9"/>
          <p:cNvSpPr/>
          <p:nvPr/>
        </p:nvSpPr>
        <p:spPr>
          <a:xfrm>
            <a:off x="4059936" y="1783080"/>
            <a:ext cx="3154680" cy="388620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059936" y="1783080"/>
            <a:ext cx="54864" cy="3886200"/>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anjaro.png"/>
          <p:cNvPicPr>
            <a:picLocks noChangeAspect="1"/>
          </p:cNvPicPr>
          <p:nvPr/>
        </p:nvPicPr>
        <p:blipFill>
          <a:blip r:embed="rId3"/>
          <a:srcRect l="10858" r="10858"/>
          <a:stretch>
            <a:fillRect/>
          </a:stretch>
        </p:blipFill>
        <p:spPr>
          <a:xfrm>
            <a:off x="4315968" y="2278952"/>
            <a:ext cx="2633472" cy="608455"/>
          </a:xfrm>
          <a:prstGeom prst="rect">
            <a:avLst/>
          </a:prstGeom>
        </p:spPr>
      </p:pic>
      <p:sp>
        <p:nvSpPr>
          <p:cNvPr id="13" name="TextBox 12"/>
          <p:cNvSpPr txBox="1"/>
          <p:nvPr/>
        </p:nvSpPr>
        <p:spPr>
          <a:xfrm>
            <a:off x="4315968" y="3310128"/>
            <a:ext cx="2560320" cy="274320"/>
          </a:xfrm>
          <a:prstGeom prst="rect">
            <a:avLst/>
          </a:prstGeom>
          <a:noFill/>
        </p:spPr>
        <p:txBody>
          <a:bodyPr wrap="square" anchor="t">
            <a:spAutoFit/>
          </a:bodyPr>
          <a:lstStyle/>
          <a:p>
            <a:pPr algn="l"/>
            <a:r>
              <a:rPr sz="1500" b="1">
                <a:solidFill>
                  <a:srgbClr val="EF692A"/>
                </a:solidFill>
                <a:latin typeface="Aptos"/>
              </a:rPr>
              <a:t>APPEARANCE</a:t>
            </a:r>
          </a:p>
        </p:txBody>
      </p:sp>
      <p:sp>
        <p:nvSpPr>
          <p:cNvPr id="14" name="TextBox 13"/>
          <p:cNvSpPr txBox="1"/>
          <p:nvPr/>
        </p:nvSpPr>
        <p:spPr>
          <a:xfrm>
            <a:off x="4315968" y="3767328"/>
            <a:ext cx="2514600" cy="685800"/>
          </a:xfrm>
          <a:prstGeom prst="rect">
            <a:avLst/>
          </a:prstGeom>
          <a:noFill/>
        </p:spPr>
        <p:txBody>
          <a:bodyPr wrap="square" anchor="t">
            <a:spAutoFit/>
          </a:bodyPr>
          <a:lstStyle/>
          <a:p>
            <a:pPr algn="l"/>
            <a:r>
              <a:rPr sz="1300" b="0">
                <a:solidFill>
                  <a:srgbClr val="1C2530"/>
                </a:solidFill>
                <a:latin typeface="Aptos"/>
              </a:rPr>
              <a:t>Themes, panels, icons,
layouts and shortcuts.</a:t>
            </a:r>
          </a:p>
        </p:txBody>
      </p:sp>
      <p:sp>
        <p:nvSpPr>
          <p:cNvPr id="15" name="Rounded Rectangle 14"/>
          <p:cNvSpPr/>
          <p:nvPr/>
        </p:nvSpPr>
        <p:spPr>
          <a:xfrm>
            <a:off x="7461504" y="1783080"/>
            <a:ext cx="3858768" cy="388620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461504" y="1783080"/>
            <a:ext cx="54864" cy="3886200"/>
          </a:xfrm>
          <a:prstGeom prst="rect">
            <a:avLst/>
          </a:prstGeom>
          <a:solidFill>
            <a:srgbClr val="121E30"/>
          </a:solidFill>
          <a:ln>
            <a:solidFill>
              <a:srgbClr val="121E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72400" y="2103120"/>
            <a:ext cx="3108960" cy="274320"/>
          </a:xfrm>
          <a:prstGeom prst="rect">
            <a:avLst/>
          </a:prstGeom>
          <a:noFill/>
        </p:spPr>
        <p:txBody>
          <a:bodyPr wrap="square" anchor="t">
            <a:spAutoFit/>
          </a:bodyPr>
          <a:lstStyle/>
          <a:p>
            <a:pPr algn="l"/>
            <a:r>
              <a:rPr sz="1500" b="1">
                <a:solidFill>
                  <a:srgbClr val="EF692A"/>
                </a:solidFill>
                <a:latin typeface="Aptos"/>
              </a:rPr>
              <a:t>DISTRIBUTIONS</a:t>
            </a:r>
          </a:p>
        </p:txBody>
      </p:sp>
      <p:sp>
        <p:nvSpPr>
          <p:cNvPr id="18" name="TextBox 17"/>
          <p:cNvSpPr txBox="1"/>
          <p:nvPr/>
        </p:nvSpPr>
        <p:spPr>
          <a:xfrm>
            <a:off x="7772400" y="2651760"/>
            <a:ext cx="3108960" cy="457200"/>
          </a:xfrm>
          <a:prstGeom prst="rect">
            <a:avLst/>
          </a:prstGeom>
          <a:noFill/>
        </p:spPr>
        <p:txBody>
          <a:bodyPr wrap="square" anchor="t">
            <a:spAutoFit/>
          </a:bodyPr>
          <a:lstStyle/>
          <a:p>
            <a:pPr algn="l"/>
            <a:r>
              <a:rPr sz="1700" b="1">
                <a:solidFill>
                  <a:srgbClr val="1C2530"/>
                </a:solidFill>
                <a:latin typeface="Aptos"/>
              </a:rPr>
              <a:t>Different choices for
different users.</a:t>
            </a:r>
          </a:p>
        </p:txBody>
      </p:sp>
      <p:sp>
        <p:nvSpPr>
          <p:cNvPr id="19" name="TextBox 18"/>
          <p:cNvSpPr txBox="1"/>
          <p:nvPr/>
        </p:nvSpPr>
        <p:spPr>
          <a:xfrm>
            <a:off x="7772400" y="3703320"/>
            <a:ext cx="3063240" cy="868680"/>
          </a:xfrm>
          <a:prstGeom prst="rect">
            <a:avLst/>
          </a:prstGeom>
          <a:noFill/>
        </p:spPr>
        <p:txBody>
          <a:bodyPr wrap="square" anchor="t">
            <a:spAutoFit/>
          </a:bodyPr>
          <a:lstStyle/>
          <a:p>
            <a:pPr algn="l"/>
            <a:r>
              <a:rPr sz="1500" b="0">
                <a:solidFill>
                  <a:srgbClr val="1C2530"/>
                </a:solidFill>
                <a:latin typeface="Aptos"/>
              </a:rPr>
              <a:t>Linux → more control
Windows → more consistency</a:t>
            </a:r>
          </a:p>
        </p:txBody>
      </p:sp>
      <p:sp>
        <p:nvSpPr>
          <p:cNvPr id="20" name="Rounded Rectangle 19"/>
          <p:cNvSpPr/>
          <p:nvPr/>
        </p:nvSpPr>
        <p:spPr>
          <a:xfrm>
            <a:off x="3429000" y="5742432"/>
            <a:ext cx="5303520" cy="292608"/>
          </a:xfrm>
          <a:prstGeom prst="round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429000" y="5756148"/>
            <a:ext cx="5303520" cy="228600"/>
          </a:xfrm>
          <a:prstGeom prst="rect">
            <a:avLst/>
          </a:prstGeom>
          <a:noFill/>
        </p:spPr>
        <p:txBody>
          <a:bodyPr wrap="square" anchor="t">
            <a:spAutoFit/>
          </a:bodyPr>
          <a:lstStyle/>
          <a:p>
            <a:pPr algn="ctr"/>
            <a:r>
              <a:rPr sz="900" b="1">
                <a:solidFill>
                  <a:srgbClr val="FFFFFF"/>
                </a:solidFill>
                <a:latin typeface="Aptos"/>
              </a:rPr>
              <a:t>MORE CONTROL  →  MORE CHOICE</a:t>
            </a:r>
          </a:p>
        </p:txBody>
      </p:sp>
      <p:sp>
        <p:nvSpPr>
          <p:cNvPr id="22" name="Rectangle 21"/>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08  /  11</a:t>
            </a:r>
          </a:p>
        </p:txBody>
      </p:sp>
    </p:spTree>
  </p:cSld>
  <p:transition spd="med">
    <p:fade/>
  </p:transition>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08</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Price</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Open source changes the cost model.</a:t>
            </a:r>
          </a:p>
        </p:txBody>
      </p:sp>
      <p:sp>
        <p:nvSpPr>
          <p:cNvPr id="5" name="Rounded Rectangle 4"/>
          <p:cNvSpPr/>
          <p:nvPr/>
        </p:nvSpPr>
        <p:spPr>
          <a:xfrm>
            <a:off x="658368" y="1783080"/>
            <a:ext cx="5166360" cy="388620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83080"/>
            <a:ext cx="54864" cy="3886200"/>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nux.jpg"/>
          <p:cNvPicPr>
            <a:picLocks noChangeAspect="1"/>
          </p:cNvPicPr>
          <p:nvPr/>
        </p:nvPicPr>
        <p:blipFill>
          <a:blip r:embed="rId2"/>
          <a:srcRect t="535" b="535"/>
          <a:stretch>
            <a:fillRect/>
          </a:stretch>
        </p:blipFill>
        <p:spPr>
          <a:xfrm>
            <a:off x="943705" y="2057400"/>
            <a:ext cx="2035366" cy="1143000"/>
          </a:xfrm>
          <a:prstGeom prst="rect">
            <a:avLst/>
          </a:prstGeom>
        </p:spPr>
      </p:pic>
      <p:sp>
        <p:nvSpPr>
          <p:cNvPr id="8" name="TextBox 7"/>
          <p:cNvSpPr txBox="1"/>
          <p:nvPr/>
        </p:nvSpPr>
        <p:spPr>
          <a:xfrm>
            <a:off x="3246120" y="2148840"/>
            <a:ext cx="2011680" cy="274320"/>
          </a:xfrm>
          <a:prstGeom prst="rect">
            <a:avLst/>
          </a:prstGeom>
          <a:noFill/>
        </p:spPr>
        <p:txBody>
          <a:bodyPr wrap="square" anchor="t">
            <a:spAutoFit/>
          </a:bodyPr>
          <a:lstStyle/>
          <a:p>
            <a:pPr algn="l"/>
            <a:r>
              <a:rPr sz="1700" b="1">
                <a:solidFill>
                  <a:srgbClr val="EF692A"/>
                </a:solidFill>
                <a:latin typeface="Aptos"/>
              </a:rPr>
              <a:t>LINUX</a:t>
            </a:r>
          </a:p>
        </p:txBody>
      </p:sp>
      <p:sp>
        <p:nvSpPr>
          <p:cNvPr id="9" name="TextBox 8"/>
          <p:cNvSpPr txBox="1"/>
          <p:nvPr/>
        </p:nvSpPr>
        <p:spPr>
          <a:xfrm>
            <a:off x="932688" y="3520440"/>
            <a:ext cx="1371600" cy="457200"/>
          </a:xfrm>
          <a:prstGeom prst="rect">
            <a:avLst/>
          </a:prstGeom>
          <a:noFill/>
        </p:spPr>
        <p:txBody>
          <a:bodyPr wrap="square" anchor="t">
            <a:spAutoFit/>
          </a:bodyPr>
          <a:lstStyle/>
          <a:p>
            <a:pPr algn="l"/>
            <a:r>
              <a:rPr sz="2800" b="1">
                <a:solidFill>
                  <a:srgbClr val="EF692A"/>
                </a:solidFill>
                <a:latin typeface="Aptos"/>
              </a:rPr>
              <a:t>FREE</a:t>
            </a:r>
          </a:p>
        </p:txBody>
      </p:sp>
      <p:sp>
        <p:nvSpPr>
          <p:cNvPr id="10" name="TextBox 9"/>
          <p:cNvSpPr txBox="1"/>
          <p:nvPr/>
        </p:nvSpPr>
        <p:spPr>
          <a:xfrm>
            <a:off x="932688" y="4133087"/>
            <a:ext cx="4343400" cy="731520"/>
          </a:xfrm>
          <a:prstGeom prst="rect">
            <a:avLst/>
          </a:prstGeom>
          <a:noFill/>
        </p:spPr>
        <p:txBody>
          <a:bodyPr wrap="square" anchor="t">
            <a:spAutoFit/>
          </a:bodyPr>
          <a:lstStyle/>
          <a:p>
            <a:pPr algn="l"/>
            <a:r>
              <a:rPr sz="1400" b="0">
                <a:solidFill>
                  <a:srgbClr val="1C2530"/>
                </a:solidFill>
                <a:latin typeface="Aptos"/>
              </a:rPr>
              <a:t>Usually no license purchase
for the operating system itself.</a:t>
            </a:r>
          </a:p>
        </p:txBody>
      </p:sp>
      <p:sp>
        <p:nvSpPr>
          <p:cNvPr id="11" name="Rounded Rectangle 10"/>
          <p:cNvSpPr/>
          <p:nvPr/>
        </p:nvSpPr>
        <p:spPr>
          <a:xfrm>
            <a:off x="5989320" y="1783080"/>
            <a:ext cx="5349240" cy="388620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989320" y="1783080"/>
            <a:ext cx="54864" cy="3886200"/>
          </a:xfrm>
          <a:prstGeom prst="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Windows XP.png"/>
          <p:cNvPicPr>
            <a:picLocks noChangeAspect="1"/>
          </p:cNvPicPr>
          <p:nvPr/>
        </p:nvPicPr>
        <p:blipFill>
          <a:blip r:embed="rId3"/>
          <a:srcRect t="22222" b="22222"/>
          <a:stretch>
            <a:fillRect/>
          </a:stretch>
        </p:blipFill>
        <p:spPr>
          <a:xfrm>
            <a:off x="6748272" y="2057400"/>
            <a:ext cx="1143000" cy="1143000"/>
          </a:xfrm>
          <a:prstGeom prst="rect">
            <a:avLst/>
          </a:prstGeom>
        </p:spPr>
      </p:pic>
      <p:sp>
        <p:nvSpPr>
          <p:cNvPr id="14" name="TextBox 13"/>
          <p:cNvSpPr txBox="1"/>
          <p:nvPr/>
        </p:nvSpPr>
        <p:spPr>
          <a:xfrm>
            <a:off x="8613648" y="2148840"/>
            <a:ext cx="2011680" cy="274320"/>
          </a:xfrm>
          <a:prstGeom prst="rect">
            <a:avLst/>
          </a:prstGeom>
          <a:noFill/>
        </p:spPr>
        <p:txBody>
          <a:bodyPr wrap="square" anchor="t">
            <a:spAutoFit/>
          </a:bodyPr>
          <a:lstStyle/>
          <a:p>
            <a:pPr algn="l"/>
            <a:r>
              <a:rPr sz="1700" b="1">
                <a:solidFill>
                  <a:srgbClr val="0070F3"/>
                </a:solidFill>
                <a:latin typeface="Aptos"/>
              </a:rPr>
              <a:t>WINDOWS</a:t>
            </a:r>
          </a:p>
        </p:txBody>
      </p:sp>
      <p:sp>
        <p:nvSpPr>
          <p:cNvPr id="15" name="TextBox 14"/>
          <p:cNvSpPr txBox="1"/>
          <p:nvPr/>
        </p:nvSpPr>
        <p:spPr>
          <a:xfrm>
            <a:off x="6291072" y="3520440"/>
            <a:ext cx="2743200" cy="457200"/>
          </a:xfrm>
          <a:prstGeom prst="rect">
            <a:avLst/>
          </a:prstGeom>
          <a:noFill/>
        </p:spPr>
        <p:txBody>
          <a:bodyPr wrap="square" anchor="t">
            <a:spAutoFit/>
          </a:bodyPr>
          <a:lstStyle/>
          <a:p>
            <a:pPr algn="l"/>
            <a:r>
              <a:rPr sz="2600" b="1">
                <a:solidFill>
                  <a:srgbClr val="0070F3"/>
                </a:solidFill>
                <a:latin typeface="Aptos"/>
              </a:rPr>
              <a:t>COMMERCIAL</a:t>
            </a:r>
          </a:p>
        </p:txBody>
      </p:sp>
      <p:sp>
        <p:nvSpPr>
          <p:cNvPr id="16" name="TextBox 15"/>
          <p:cNvSpPr txBox="1"/>
          <p:nvPr/>
        </p:nvSpPr>
        <p:spPr>
          <a:xfrm>
            <a:off x="6291072" y="4133087"/>
            <a:ext cx="4343400" cy="731520"/>
          </a:xfrm>
          <a:prstGeom prst="rect">
            <a:avLst/>
          </a:prstGeom>
          <a:noFill/>
        </p:spPr>
        <p:txBody>
          <a:bodyPr wrap="square" anchor="t">
            <a:spAutoFit/>
          </a:bodyPr>
          <a:lstStyle/>
          <a:p>
            <a:pPr algn="l"/>
            <a:r>
              <a:rPr sz="1400" b="0">
                <a:solidFill>
                  <a:srgbClr val="1C2530"/>
                </a:solidFill>
                <a:latin typeface="Aptos"/>
              </a:rPr>
              <a:t>Often bundled with a PC
or purchased as a license.</a:t>
            </a:r>
          </a:p>
        </p:txBody>
      </p:sp>
      <p:sp>
        <p:nvSpPr>
          <p:cNvPr id="17" name="Rounded Rectangle 16"/>
          <p:cNvSpPr/>
          <p:nvPr/>
        </p:nvSpPr>
        <p:spPr>
          <a:xfrm>
            <a:off x="2788920" y="5742432"/>
            <a:ext cx="6629400" cy="292608"/>
          </a:xfrm>
          <a:prstGeom prst="round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88920" y="5756148"/>
            <a:ext cx="6629400" cy="228600"/>
          </a:xfrm>
          <a:prstGeom prst="rect">
            <a:avLst/>
          </a:prstGeom>
          <a:noFill/>
        </p:spPr>
        <p:txBody>
          <a:bodyPr wrap="square" anchor="t">
            <a:spAutoFit/>
          </a:bodyPr>
          <a:lstStyle/>
          <a:p>
            <a:pPr algn="ctr"/>
            <a:r>
              <a:rPr sz="900" b="1">
                <a:solidFill>
                  <a:srgbClr val="FFFFFF"/>
                </a:solidFill>
                <a:latin typeface="Aptos"/>
              </a:rPr>
              <a:t>STUDENTS + TIGHT BUDGETS  →  LINUX CAN BE ATTRACTIVE</a:t>
            </a:r>
          </a:p>
        </p:txBody>
      </p:sp>
      <p:sp>
        <p:nvSpPr>
          <p:cNvPr id="19" name="Rectangle 18"/>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09  /  11</a:t>
            </a:r>
          </a:p>
        </p:txBody>
      </p:sp>
    </p:spTree>
  </p:cSld>
  <p:transition spd="med">
    <p:push dir="l"/>
  </p:transition>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09</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Which One Is Better?</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There is no universal winner.</a:t>
            </a:r>
          </a:p>
        </p:txBody>
      </p:sp>
      <p:sp>
        <p:nvSpPr>
          <p:cNvPr id="5" name="Rounded Rectangle 4"/>
          <p:cNvSpPr/>
          <p:nvPr/>
        </p:nvSpPr>
        <p:spPr>
          <a:xfrm>
            <a:off x="658368" y="1783080"/>
            <a:ext cx="5257800" cy="379476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1783080"/>
            <a:ext cx="54864" cy="3794760"/>
          </a:xfrm>
          <a:prstGeom prst="rect">
            <a:avLst/>
          </a:prstGeom>
          <a:solidFill>
            <a:srgbClr val="0070F3"/>
          </a:solidFill>
          <a:ln>
            <a:solidFill>
              <a:srgbClr val="0070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Win 11.png"/>
          <p:cNvPicPr>
            <a:picLocks noChangeAspect="1"/>
          </p:cNvPicPr>
          <p:nvPr/>
        </p:nvPicPr>
        <p:blipFill>
          <a:blip r:embed="rId2"/>
          <a:srcRect t="21120" b="21120"/>
          <a:stretch>
            <a:fillRect/>
          </a:stretch>
        </p:blipFill>
        <p:spPr>
          <a:xfrm>
            <a:off x="1927259" y="2057400"/>
            <a:ext cx="2720018" cy="1097280"/>
          </a:xfrm>
          <a:prstGeom prst="rect">
            <a:avLst/>
          </a:prstGeom>
        </p:spPr>
      </p:pic>
      <p:sp>
        <p:nvSpPr>
          <p:cNvPr id="8" name="TextBox 7"/>
          <p:cNvSpPr txBox="1"/>
          <p:nvPr/>
        </p:nvSpPr>
        <p:spPr>
          <a:xfrm>
            <a:off x="932688" y="3456432"/>
            <a:ext cx="4480560" cy="274320"/>
          </a:xfrm>
          <a:prstGeom prst="rect">
            <a:avLst/>
          </a:prstGeom>
          <a:noFill/>
        </p:spPr>
        <p:txBody>
          <a:bodyPr wrap="square" anchor="t">
            <a:spAutoFit/>
          </a:bodyPr>
          <a:lstStyle/>
          <a:p>
            <a:pPr algn="l"/>
            <a:r>
              <a:rPr sz="1700" b="1">
                <a:solidFill>
                  <a:srgbClr val="0070F3"/>
                </a:solidFill>
                <a:latin typeface="Aptos"/>
              </a:rPr>
              <a:t>CHOOSE WINDOWS</a:t>
            </a:r>
          </a:p>
        </p:txBody>
      </p:sp>
      <p:sp>
        <p:nvSpPr>
          <p:cNvPr id="9" name="TextBox 8"/>
          <p:cNvSpPr txBox="1"/>
          <p:nvPr/>
        </p:nvSpPr>
        <p:spPr>
          <a:xfrm>
            <a:off x="932688" y="3931920"/>
            <a:ext cx="4434840" cy="1097280"/>
          </a:xfrm>
          <a:prstGeom prst="rect">
            <a:avLst/>
          </a:prstGeom>
          <a:noFill/>
        </p:spPr>
        <p:txBody>
          <a:bodyPr wrap="square" anchor="t">
            <a:spAutoFit/>
          </a:bodyPr>
          <a:lstStyle/>
          <a:p>
            <a:pPr algn="l"/>
            <a:r>
              <a:rPr sz="1400" b="0">
                <a:solidFill>
                  <a:srgbClr val="1C2530"/>
                </a:solidFill>
                <a:latin typeface="Aptos"/>
              </a:rPr>
              <a:t>Easy installation
Maximum mainstream compatibility
Gaming and commercial software</a:t>
            </a:r>
          </a:p>
        </p:txBody>
      </p:sp>
      <p:sp>
        <p:nvSpPr>
          <p:cNvPr id="10" name="Rounded Rectangle 9"/>
          <p:cNvSpPr/>
          <p:nvPr/>
        </p:nvSpPr>
        <p:spPr>
          <a:xfrm>
            <a:off x="6272784" y="1783080"/>
            <a:ext cx="5230368" cy="3794760"/>
          </a:xfrm>
          <a:prstGeom prst="roundRect">
            <a:avLst/>
          </a:prstGeom>
          <a:solidFill>
            <a:srgbClr val="FFFFFF"/>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72784" y="1783080"/>
            <a:ext cx="54864" cy="3794760"/>
          </a:xfrm>
          <a:prstGeom prst="rect">
            <a:avLst/>
          </a:prstGeom>
          <a:solidFill>
            <a:srgbClr val="EF692A"/>
          </a:solidFill>
          <a:ln>
            <a:solidFill>
              <a:srgbClr val="EF692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rch Linux.png"/>
          <p:cNvPicPr>
            <a:picLocks noChangeAspect="1"/>
          </p:cNvPicPr>
          <p:nvPr/>
        </p:nvPicPr>
        <p:blipFill>
          <a:blip r:embed="rId3"/>
          <a:srcRect t="38281" b="38281"/>
          <a:stretch>
            <a:fillRect/>
          </a:stretch>
        </p:blipFill>
        <p:spPr>
          <a:xfrm>
            <a:off x="8339328" y="2057400"/>
            <a:ext cx="1097280" cy="1097280"/>
          </a:xfrm>
          <a:prstGeom prst="rect">
            <a:avLst/>
          </a:prstGeom>
        </p:spPr>
      </p:pic>
      <p:sp>
        <p:nvSpPr>
          <p:cNvPr id="13" name="TextBox 12"/>
          <p:cNvSpPr txBox="1"/>
          <p:nvPr/>
        </p:nvSpPr>
        <p:spPr>
          <a:xfrm>
            <a:off x="6547104" y="3456432"/>
            <a:ext cx="4480560" cy="274320"/>
          </a:xfrm>
          <a:prstGeom prst="rect">
            <a:avLst/>
          </a:prstGeom>
          <a:noFill/>
        </p:spPr>
        <p:txBody>
          <a:bodyPr wrap="square" anchor="t">
            <a:spAutoFit/>
          </a:bodyPr>
          <a:lstStyle/>
          <a:p>
            <a:pPr algn="l"/>
            <a:r>
              <a:rPr sz="1700" b="1">
                <a:solidFill>
                  <a:srgbClr val="EF692A"/>
                </a:solidFill>
                <a:latin typeface="Aptos"/>
              </a:rPr>
              <a:t>CHOOSE LINUX</a:t>
            </a:r>
          </a:p>
        </p:txBody>
      </p:sp>
      <p:sp>
        <p:nvSpPr>
          <p:cNvPr id="14" name="TextBox 13"/>
          <p:cNvSpPr txBox="1"/>
          <p:nvPr/>
        </p:nvSpPr>
        <p:spPr>
          <a:xfrm>
            <a:off x="6547104" y="3931920"/>
            <a:ext cx="4434840" cy="1097280"/>
          </a:xfrm>
          <a:prstGeom prst="rect">
            <a:avLst/>
          </a:prstGeom>
          <a:noFill/>
        </p:spPr>
        <p:txBody>
          <a:bodyPr wrap="square" anchor="t">
            <a:spAutoFit/>
          </a:bodyPr>
          <a:lstStyle/>
          <a:p>
            <a:pPr algn="l"/>
            <a:r>
              <a:rPr sz="1400" b="0">
                <a:solidFill>
                  <a:srgbClr val="1C2530"/>
                </a:solidFill>
                <a:latin typeface="Aptos"/>
              </a:rPr>
              <a:t>Customization
Control and open source
Flexible distributions and workflows</a:t>
            </a:r>
          </a:p>
        </p:txBody>
      </p:sp>
      <p:sp>
        <p:nvSpPr>
          <p:cNvPr id="15" name="Rounded Rectangle 14"/>
          <p:cNvSpPr/>
          <p:nvPr/>
        </p:nvSpPr>
        <p:spPr>
          <a:xfrm>
            <a:off x="2834640" y="5779008"/>
            <a:ext cx="6492240" cy="292608"/>
          </a:xfrm>
          <a:prstGeom prst="roundRect">
            <a:avLst/>
          </a:prstGeom>
          <a:solidFill>
            <a:srgbClr val="121E30"/>
          </a:solidFill>
          <a:ln>
            <a:solidFill>
              <a:srgbClr val="121E3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834640" y="5792724"/>
            <a:ext cx="6492240" cy="228600"/>
          </a:xfrm>
          <a:prstGeom prst="rect">
            <a:avLst/>
          </a:prstGeom>
          <a:noFill/>
        </p:spPr>
        <p:txBody>
          <a:bodyPr wrap="square" anchor="t">
            <a:spAutoFit/>
          </a:bodyPr>
          <a:lstStyle/>
          <a:p>
            <a:pPr algn="ctr"/>
            <a:r>
              <a:rPr sz="900" b="1">
                <a:solidFill>
                  <a:srgbClr val="FFFFFF"/>
                </a:solidFill>
                <a:latin typeface="Aptos"/>
              </a:rPr>
              <a:t>THE BEST OS = THE ONE THAT FITS YOUR NEEDS</a:t>
            </a:r>
          </a:p>
        </p:txBody>
      </p:sp>
      <p:sp>
        <p:nvSpPr>
          <p:cNvPr id="17" name="Rectangle 16"/>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10  /  11</a:t>
            </a:r>
          </a:p>
        </p:txBody>
      </p:sp>
    </p:spTree>
  </p:cSld>
  <p:transition spd="med">
    <p:wipe dir="l"/>
  </p:transition>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384048"/>
            <a:ext cx="2286000" cy="228600"/>
          </a:xfrm>
          <a:prstGeom prst="rect">
            <a:avLst/>
          </a:prstGeom>
          <a:noFill/>
        </p:spPr>
        <p:txBody>
          <a:bodyPr wrap="square" anchor="t">
            <a:spAutoFit/>
          </a:bodyPr>
          <a:lstStyle/>
          <a:p>
            <a:pPr algn="l"/>
            <a:r>
              <a:rPr sz="1000" b="1">
                <a:solidFill>
                  <a:srgbClr val="0070F3"/>
                </a:solidFill>
                <a:latin typeface="Aptos"/>
              </a:rPr>
              <a:t>10</a:t>
            </a:r>
          </a:p>
        </p:txBody>
      </p:sp>
      <p:sp>
        <p:nvSpPr>
          <p:cNvPr id="3" name="TextBox 2"/>
          <p:cNvSpPr txBox="1"/>
          <p:nvPr/>
        </p:nvSpPr>
        <p:spPr>
          <a:xfrm>
            <a:off x="640080" y="658368"/>
            <a:ext cx="10881360" cy="502920"/>
          </a:xfrm>
          <a:prstGeom prst="rect">
            <a:avLst/>
          </a:prstGeom>
          <a:noFill/>
        </p:spPr>
        <p:txBody>
          <a:bodyPr wrap="square" anchor="t">
            <a:spAutoFit/>
          </a:bodyPr>
          <a:lstStyle/>
          <a:p>
            <a:pPr algn="l"/>
            <a:r>
              <a:rPr sz="2700" b="1">
                <a:solidFill>
                  <a:srgbClr val="1C2530"/>
                </a:solidFill>
                <a:latin typeface="Aptos"/>
              </a:rPr>
              <a:t>Conclusion</a:t>
            </a:r>
          </a:p>
        </p:txBody>
      </p:sp>
      <p:sp>
        <p:nvSpPr>
          <p:cNvPr id="4" name="TextBox 3"/>
          <p:cNvSpPr txBox="1"/>
          <p:nvPr/>
        </p:nvSpPr>
        <p:spPr>
          <a:xfrm>
            <a:off x="640080" y="1188720"/>
            <a:ext cx="10881360" cy="320040"/>
          </a:xfrm>
          <a:prstGeom prst="rect">
            <a:avLst/>
          </a:prstGeom>
          <a:noFill/>
        </p:spPr>
        <p:txBody>
          <a:bodyPr wrap="square" anchor="t">
            <a:spAutoFit/>
          </a:bodyPr>
          <a:lstStyle/>
          <a:p>
            <a:pPr algn="l"/>
            <a:r>
              <a:rPr sz="1200" b="0">
                <a:solidFill>
                  <a:srgbClr val="5C6978"/>
                </a:solidFill>
                <a:latin typeface="Aptos"/>
              </a:rPr>
              <a:t>Choose the operating system that fits your needs.</a:t>
            </a:r>
          </a:p>
        </p:txBody>
      </p:sp>
      <p:pic>
        <p:nvPicPr>
          <p:cNvPr id="5" name="Picture 4" descr="Win 11.png"/>
          <p:cNvPicPr>
            <a:picLocks noChangeAspect="1"/>
          </p:cNvPicPr>
          <p:nvPr/>
        </p:nvPicPr>
        <p:blipFill>
          <a:blip r:embed="rId2"/>
          <a:srcRect t="13226" b="13226"/>
          <a:stretch>
            <a:fillRect/>
          </a:stretch>
        </p:blipFill>
        <p:spPr>
          <a:xfrm>
            <a:off x="1510370" y="1847088"/>
            <a:ext cx="3060020" cy="1234440"/>
          </a:xfrm>
          <a:prstGeom prst="rect">
            <a:avLst/>
          </a:prstGeom>
        </p:spPr>
      </p:pic>
      <p:pic>
        <p:nvPicPr>
          <p:cNvPr id="6" name="Picture 5" descr="linux-fedora.png"/>
          <p:cNvPicPr>
            <a:picLocks noChangeAspect="1"/>
          </p:cNvPicPr>
          <p:nvPr/>
        </p:nvPicPr>
        <p:blipFill>
          <a:blip r:embed="rId3"/>
          <a:srcRect t="35165" b="35165"/>
          <a:stretch>
            <a:fillRect/>
          </a:stretch>
        </p:blipFill>
        <p:spPr>
          <a:xfrm>
            <a:off x="8522208" y="1847088"/>
            <a:ext cx="1234440" cy="1234440"/>
          </a:xfrm>
          <a:prstGeom prst="rect">
            <a:avLst/>
          </a:prstGeom>
        </p:spPr>
      </p:pic>
      <p:sp>
        <p:nvSpPr>
          <p:cNvPr id="7" name="TextBox 6"/>
          <p:cNvSpPr txBox="1"/>
          <p:nvPr/>
        </p:nvSpPr>
        <p:spPr>
          <a:xfrm>
            <a:off x="960120" y="3310128"/>
            <a:ext cx="4160520" cy="320040"/>
          </a:xfrm>
          <a:prstGeom prst="rect">
            <a:avLst/>
          </a:prstGeom>
          <a:noFill/>
        </p:spPr>
        <p:txBody>
          <a:bodyPr wrap="square" anchor="t">
            <a:spAutoFit/>
          </a:bodyPr>
          <a:lstStyle/>
          <a:p>
            <a:pPr algn="ctr"/>
            <a:r>
              <a:rPr sz="1800" b="1">
                <a:solidFill>
                  <a:srgbClr val="0070F3"/>
                </a:solidFill>
                <a:latin typeface="Aptos"/>
              </a:rPr>
              <a:t>WINDOWS</a:t>
            </a:r>
          </a:p>
        </p:txBody>
      </p:sp>
      <p:sp>
        <p:nvSpPr>
          <p:cNvPr id="8" name="TextBox 7"/>
          <p:cNvSpPr txBox="1"/>
          <p:nvPr/>
        </p:nvSpPr>
        <p:spPr>
          <a:xfrm>
            <a:off x="7059168" y="3310128"/>
            <a:ext cx="4160520" cy="320040"/>
          </a:xfrm>
          <a:prstGeom prst="rect">
            <a:avLst/>
          </a:prstGeom>
          <a:noFill/>
        </p:spPr>
        <p:txBody>
          <a:bodyPr wrap="square" anchor="t">
            <a:spAutoFit/>
          </a:bodyPr>
          <a:lstStyle/>
          <a:p>
            <a:pPr algn="ctr"/>
            <a:r>
              <a:rPr sz="1800" b="1">
                <a:solidFill>
                  <a:srgbClr val="EF692A"/>
                </a:solidFill>
                <a:latin typeface="Aptos"/>
              </a:rPr>
              <a:t>LINUX</a:t>
            </a:r>
          </a:p>
        </p:txBody>
      </p:sp>
      <p:sp>
        <p:nvSpPr>
          <p:cNvPr id="9" name="TextBox 8"/>
          <p:cNvSpPr txBox="1"/>
          <p:nvPr/>
        </p:nvSpPr>
        <p:spPr>
          <a:xfrm>
            <a:off x="1325880" y="4096512"/>
            <a:ext cx="9509760" cy="731520"/>
          </a:xfrm>
          <a:prstGeom prst="rect">
            <a:avLst/>
          </a:prstGeom>
          <a:noFill/>
        </p:spPr>
        <p:txBody>
          <a:bodyPr wrap="square" anchor="t">
            <a:spAutoFit/>
          </a:bodyPr>
          <a:lstStyle/>
          <a:p>
            <a:pPr algn="ctr"/>
            <a:r>
              <a:rPr sz="2200" b="1">
                <a:solidFill>
                  <a:srgbClr val="1C2530"/>
                </a:solidFill>
                <a:latin typeface="Aptos"/>
              </a:rPr>
              <a:t>Different strengths. Different priorities.
The right choice depends on the user.</a:t>
            </a:r>
          </a:p>
        </p:txBody>
      </p:sp>
      <p:sp>
        <p:nvSpPr>
          <p:cNvPr id="10" name="TextBox 9"/>
          <p:cNvSpPr txBox="1"/>
          <p:nvPr/>
        </p:nvSpPr>
        <p:spPr>
          <a:xfrm>
            <a:off x="3886200" y="5230368"/>
            <a:ext cx="4434840" cy="365760"/>
          </a:xfrm>
          <a:prstGeom prst="rect">
            <a:avLst/>
          </a:prstGeom>
          <a:noFill/>
        </p:spPr>
        <p:txBody>
          <a:bodyPr wrap="square" anchor="t">
            <a:spAutoFit/>
          </a:bodyPr>
          <a:lstStyle/>
          <a:p>
            <a:pPr algn="ctr"/>
            <a:r>
              <a:rPr sz="1600" b="0">
                <a:solidFill>
                  <a:srgbClr val="5C6978"/>
                </a:solidFill>
                <a:latin typeface="Aptos"/>
              </a:rPr>
              <a:t>Thank you for listening.</a:t>
            </a:r>
          </a:p>
        </p:txBody>
      </p:sp>
      <p:sp>
        <p:nvSpPr>
          <p:cNvPr id="11" name="Rectangle 10"/>
          <p:cNvSpPr/>
          <p:nvPr/>
        </p:nvSpPr>
        <p:spPr>
          <a:xfrm>
            <a:off x="640080" y="6473952"/>
            <a:ext cx="10927080" cy="10972"/>
          </a:xfrm>
          <a:prstGeom prst="rect">
            <a:avLst/>
          </a:prstGeom>
          <a:solidFill>
            <a:srgbClr val="DEE4EB"/>
          </a:solidFill>
          <a:ln>
            <a:solidFill>
              <a:srgbClr val="DEE4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561320" y="6547104"/>
            <a:ext cx="1005840" cy="164592"/>
          </a:xfrm>
          <a:prstGeom prst="rect">
            <a:avLst/>
          </a:prstGeom>
          <a:noFill/>
        </p:spPr>
        <p:txBody>
          <a:bodyPr wrap="square" anchor="t">
            <a:spAutoFit/>
          </a:bodyPr>
          <a:lstStyle/>
          <a:p>
            <a:pPr algn="r"/>
            <a:r>
              <a:rPr sz="800" b="1">
                <a:solidFill>
                  <a:srgbClr val="5C6978"/>
                </a:solidFill>
                <a:latin typeface="Aptos"/>
              </a:rPr>
              <a:t>11  /  11</a:t>
            </a:r>
          </a:p>
        </p:txBody>
      </p:sp>
    </p:spTree>
  </p:cSld>
  <p:transition spd="med">
    <p:fade/>
  </p:transition>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